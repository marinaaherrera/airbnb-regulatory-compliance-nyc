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Croissant One"/>
      <p:regular r:id="rId21"/>
    </p:embeddedFont>
    <p:embeddedFont>
      <p:font typeface="Lexend Dec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LexendDeca-regular.fntdata"/><Relationship Id="rId21" Type="http://schemas.openxmlformats.org/officeDocument/2006/relationships/font" Target="fonts/CroissantOne-regular.fntdata"/><Relationship Id="rId23" Type="http://schemas.openxmlformats.org/officeDocument/2006/relationships/font" Target="fonts/LexendDe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b6bcf1c8f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3b6bcf1c8f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365f1d91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365f1d91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3365f1d91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3365f1d91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3dfdb0c0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3dfdb0c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339c9b4127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339c9b412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3365f1d91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3365f1d91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3365f1d91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3365f1d91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3365f1d91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3365f1d91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14e15e52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914e15e52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14e15e52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14e15e52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d7960624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d7960624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3365f1d91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3365f1d91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hyperlink" Target="http://bit.ly/2Tynxth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noFill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4" y="0"/>
            <a:ext cx="91425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flipH="1" rot="10800000">
            <a:off x="5175" y="7800"/>
            <a:ext cx="9121500" cy="51357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47112" l="0" r="0" t="0"/>
          <a:stretch/>
        </p:blipFill>
        <p:spPr>
          <a:xfrm>
            <a:off x="725" y="2300"/>
            <a:ext cx="9142550" cy="27203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522100" y="1294875"/>
            <a:ext cx="5855700" cy="209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635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522100" y="3387963"/>
            <a:ext cx="4772100" cy="2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noFill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404" y="0"/>
            <a:ext cx="91425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 flipH="1" rot="10800000">
            <a:off x="5175" y="7800"/>
            <a:ext cx="9121500" cy="51357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54046" l="0" r="0" t="0"/>
          <a:stretch/>
        </p:blipFill>
        <p:spPr>
          <a:xfrm>
            <a:off x="725" y="2300"/>
            <a:ext cx="9142550" cy="23637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1400550" y="2442200"/>
            <a:ext cx="63429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1707775" y="1102775"/>
            <a:ext cx="1079100" cy="81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47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400550" y="3304050"/>
            <a:ext cx="45333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noFill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 flipH="1" rot="10800000">
            <a:off x="750" y="-2400"/>
            <a:ext cx="9142550" cy="5148300"/>
            <a:chOff x="-3503650" y="-1504975"/>
            <a:chExt cx="9142550" cy="5148300"/>
          </a:xfrm>
        </p:grpSpPr>
        <p:pic>
          <p:nvPicPr>
            <p:cNvPr id="23" name="Google Shape;23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4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" name="Google Shape;25;p4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 flipH="1" rot="10800000">
            <a:off x="-25" y="4795826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" name="Google Shape;26;p4"/>
          <p:cNvSpPr txBox="1"/>
          <p:nvPr>
            <p:ph type="title"/>
          </p:nvPr>
        </p:nvSpPr>
        <p:spPr>
          <a:xfrm>
            <a:off x="713225" y="539500"/>
            <a:ext cx="77175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b="1"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13225" y="1240050"/>
            <a:ext cx="7717500" cy="4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Livvic"/>
              <a:buAutoNum type="arabicPeriod"/>
              <a:defRPr sz="12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noFill/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750" y="-2400"/>
            <a:ext cx="9142550" cy="5148300"/>
            <a:chOff x="-3503650" y="-1504975"/>
            <a:chExt cx="9142550" cy="5148300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1;p5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" name="Google Shape;32;p5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1236650" y="539500"/>
            <a:ext cx="66708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1846450" y="3828875"/>
            <a:ext cx="23124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1846450" y="3476975"/>
            <a:ext cx="2312400" cy="38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4985150" y="3828875"/>
            <a:ext cx="23124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4985150" y="3476975"/>
            <a:ext cx="2312400" cy="38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noFill/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750" y="-2400"/>
            <a:ext cx="9142550" cy="5148300"/>
            <a:chOff x="-3503650" y="-1504975"/>
            <a:chExt cx="9142550" cy="5148300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6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" name="Google Shape;42;p6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" name="Google Shape;43;p6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32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/>
          <p:nvPr/>
        </p:nvSpPr>
        <p:spPr>
          <a:xfrm flipH="1" rot="10800000">
            <a:off x="5175" y="7800"/>
            <a:ext cx="9140400" cy="5135700"/>
          </a:xfrm>
          <a:prstGeom prst="rect">
            <a:avLst/>
          </a:prstGeom>
          <a:gradFill>
            <a:gsLst>
              <a:gs pos="0">
                <a:srgbClr val="696969">
                  <a:alpha val="3568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43529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3">
            <a:alphaModFix/>
          </a:blip>
          <a:srcRect b="0" l="69283" r="0" t="0"/>
          <a:stretch/>
        </p:blipFill>
        <p:spPr>
          <a:xfrm>
            <a:off x="6335725" y="3900"/>
            <a:ext cx="2808276" cy="51357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713225" y="539500"/>
            <a:ext cx="5254200" cy="12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 b="1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subTitle"/>
          </p:nvPr>
        </p:nvSpPr>
        <p:spPr>
          <a:xfrm>
            <a:off x="713225" y="1987625"/>
            <a:ext cx="3597900" cy="24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b="49977" l="0" r="-10" t="0"/>
          <a:stretch/>
        </p:blipFill>
        <p:spPr>
          <a:xfrm>
            <a:off x="725" y="3900"/>
            <a:ext cx="9144000" cy="25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/>
          <p:nvPr/>
        </p:nvSpPr>
        <p:spPr>
          <a:xfrm flipH="1" rot="10800000">
            <a:off x="2650" y="-6275"/>
            <a:ext cx="9140400" cy="25812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8"/>
          <p:cNvPicPr preferRelativeResize="0"/>
          <p:nvPr/>
        </p:nvPicPr>
        <p:blipFill rotWithShape="1">
          <a:blip r:embed="rId3">
            <a:alphaModFix/>
          </a:blip>
          <a:srcRect b="49989" l="0" r="0" t="0"/>
          <a:stretch/>
        </p:blipFill>
        <p:spPr>
          <a:xfrm flipH="1" rot="10800000">
            <a:off x="1600" y="2565400"/>
            <a:ext cx="9142401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/>
          <p:nvPr/>
        </p:nvSpPr>
        <p:spPr>
          <a:xfrm>
            <a:off x="1600" y="2566650"/>
            <a:ext cx="9142500" cy="25728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 txBox="1"/>
          <p:nvPr>
            <p:ph type="ctrTitle"/>
          </p:nvPr>
        </p:nvSpPr>
        <p:spPr>
          <a:xfrm>
            <a:off x="1717050" y="1443750"/>
            <a:ext cx="5709900" cy="225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noFill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149" l="0" r="50010" t="0"/>
          <a:stretch/>
        </p:blipFill>
        <p:spPr>
          <a:xfrm>
            <a:off x="725" y="3900"/>
            <a:ext cx="4570400" cy="51357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" name="Google Shape;58;p9"/>
          <p:cNvSpPr/>
          <p:nvPr/>
        </p:nvSpPr>
        <p:spPr>
          <a:xfrm flipH="1" rot="10800000">
            <a:off x="5175" y="-4800"/>
            <a:ext cx="4568400" cy="51483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9"/>
          <p:cNvPicPr preferRelativeResize="0"/>
          <p:nvPr/>
        </p:nvPicPr>
        <p:blipFill rotWithShape="1">
          <a:blip r:embed="rId3">
            <a:alphaModFix/>
          </a:blip>
          <a:srcRect b="0" l="50009" r="0" t="0"/>
          <a:stretch/>
        </p:blipFill>
        <p:spPr>
          <a:xfrm flipH="1" rot="10800000">
            <a:off x="4573598" y="0"/>
            <a:ext cx="4570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/>
          <p:nvPr/>
        </p:nvSpPr>
        <p:spPr>
          <a:xfrm flipH="1" rot="10800000">
            <a:off x="4573600" y="3900"/>
            <a:ext cx="4559100" cy="51357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 txBox="1"/>
          <p:nvPr>
            <p:ph idx="1" type="subTitle"/>
          </p:nvPr>
        </p:nvSpPr>
        <p:spPr>
          <a:xfrm flipH="1">
            <a:off x="835882" y="2568613"/>
            <a:ext cx="2900100" cy="14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 flipH="1">
            <a:off x="835868" y="1745763"/>
            <a:ext cx="2900100" cy="8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2" type="subTitle"/>
          </p:nvPr>
        </p:nvSpPr>
        <p:spPr>
          <a:xfrm flipH="1">
            <a:off x="5403107" y="2568613"/>
            <a:ext cx="2900100" cy="14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3" type="title"/>
          </p:nvPr>
        </p:nvSpPr>
        <p:spPr>
          <a:xfrm flipH="1">
            <a:off x="5403093" y="1745763"/>
            <a:ext cx="2900100" cy="8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noFill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5219275" y="1690700"/>
            <a:ext cx="3042000" cy="28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noFill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1"/>
          <p:cNvPicPr preferRelativeResize="0"/>
          <p:nvPr/>
        </p:nvPicPr>
        <p:blipFill rotWithShape="1">
          <a:blip r:embed="rId2">
            <a:alphaModFix/>
          </a:blip>
          <a:srcRect b="47373" l="0" r="-10" t="0"/>
          <a:stretch/>
        </p:blipFill>
        <p:spPr>
          <a:xfrm>
            <a:off x="725" y="-148500"/>
            <a:ext cx="9144000" cy="27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/>
          <p:nvPr/>
        </p:nvSpPr>
        <p:spPr>
          <a:xfrm flipH="1" rot="10800000">
            <a:off x="5175" y="-157350"/>
            <a:ext cx="9140400" cy="27156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49776" l="0" r="0" t="0"/>
          <a:stretch/>
        </p:blipFill>
        <p:spPr>
          <a:xfrm flipH="1" rot="10800000">
            <a:off x="1600" y="2554300"/>
            <a:ext cx="9142401" cy="2589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1"/>
          <p:cNvSpPr/>
          <p:nvPr/>
        </p:nvSpPr>
        <p:spPr>
          <a:xfrm flipH="1" rot="10800000">
            <a:off x="1600" y="2535300"/>
            <a:ext cx="9142500" cy="26082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713225" y="1199775"/>
            <a:ext cx="77175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1851425" y="2825025"/>
            <a:ext cx="5441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2_1">
    <p:bg>
      <p:bgPr>
        <a:noFill/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4" y="0"/>
            <a:ext cx="91425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/>
          <p:nvPr/>
        </p:nvSpPr>
        <p:spPr>
          <a:xfrm flipH="1" rot="10800000">
            <a:off x="5175" y="7800"/>
            <a:ext cx="9121500" cy="51357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 rotWithShape="1">
          <a:blip r:embed="rId3">
            <a:alphaModFix/>
          </a:blip>
          <a:srcRect b="76502" l="0" r="0" t="0"/>
          <a:stretch/>
        </p:blipFill>
        <p:spPr>
          <a:xfrm>
            <a:off x="725" y="2300"/>
            <a:ext cx="9142550" cy="1208626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3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2" type="title"/>
          </p:nvPr>
        </p:nvSpPr>
        <p:spPr>
          <a:xfrm>
            <a:off x="918583" y="2011868"/>
            <a:ext cx="92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1" type="subTitle"/>
          </p:nvPr>
        </p:nvSpPr>
        <p:spPr>
          <a:xfrm>
            <a:off x="2015350" y="2142925"/>
            <a:ext cx="24249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3" type="subTitle"/>
          </p:nvPr>
        </p:nvSpPr>
        <p:spPr>
          <a:xfrm>
            <a:off x="2015350" y="1868675"/>
            <a:ext cx="24249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4" type="title"/>
          </p:nvPr>
        </p:nvSpPr>
        <p:spPr>
          <a:xfrm>
            <a:off x="918583" y="3641481"/>
            <a:ext cx="92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5" type="subTitle"/>
          </p:nvPr>
        </p:nvSpPr>
        <p:spPr>
          <a:xfrm>
            <a:off x="2015350" y="3810550"/>
            <a:ext cx="2422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2015350" y="3536300"/>
            <a:ext cx="24225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hasCustomPrompt="1" idx="7" type="title"/>
          </p:nvPr>
        </p:nvSpPr>
        <p:spPr>
          <a:xfrm>
            <a:off x="4907560" y="2011868"/>
            <a:ext cx="9396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6005825" y="2142923"/>
            <a:ext cx="24249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6005830" y="1868675"/>
            <a:ext cx="24249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13" type="title"/>
          </p:nvPr>
        </p:nvSpPr>
        <p:spPr>
          <a:xfrm>
            <a:off x="4907560" y="3641481"/>
            <a:ext cx="9396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6005825" y="3810550"/>
            <a:ext cx="24249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6005830" y="3536301"/>
            <a:ext cx="24249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">
    <p:bg>
      <p:bgPr>
        <a:noFill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25" y="0"/>
            <a:ext cx="9142550" cy="51435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4"/>
          <p:cNvSpPr/>
          <p:nvPr/>
        </p:nvSpPr>
        <p:spPr>
          <a:xfrm flipH="1">
            <a:off x="4350" y="0"/>
            <a:ext cx="9135300" cy="51435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1199475" y="3280350"/>
            <a:ext cx="4955400" cy="6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1199475" y="1184850"/>
            <a:ext cx="5879100" cy="20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bg>
      <p:bgPr>
        <a:noFill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85960" r="0" t="0"/>
          <a:stretch/>
        </p:blipFill>
        <p:spPr>
          <a:xfrm>
            <a:off x="7860459" y="0"/>
            <a:ext cx="12835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 flipH="1">
            <a:off x="4350" y="0"/>
            <a:ext cx="7856100" cy="51435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 flipH="1" rot="10800000">
            <a:off x="7878772" y="125"/>
            <a:ext cx="1265100" cy="5129100"/>
          </a:xfrm>
          <a:prstGeom prst="rect">
            <a:avLst/>
          </a:prstGeom>
          <a:gradFill>
            <a:gsLst>
              <a:gs pos="0">
                <a:srgbClr val="696969">
                  <a:alpha val="3568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43529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>
            <p:ph hasCustomPrompt="1" type="title"/>
          </p:nvPr>
        </p:nvSpPr>
        <p:spPr>
          <a:xfrm>
            <a:off x="1487500" y="748825"/>
            <a:ext cx="48291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1487500" y="1305035"/>
            <a:ext cx="48291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15"/>
          <p:cNvSpPr txBox="1"/>
          <p:nvPr>
            <p:ph hasCustomPrompt="1" idx="2" type="title"/>
          </p:nvPr>
        </p:nvSpPr>
        <p:spPr>
          <a:xfrm>
            <a:off x="1487500" y="2138320"/>
            <a:ext cx="48291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5" name="Google Shape;105;p15"/>
          <p:cNvSpPr txBox="1"/>
          <p:nvPr>
            <p:ph idx="3" type="subTitle"/>
          </p:nvPr>
        </p:nvSpPr>
        <p:spPr>
          <a:xfrm>
            <a:off x="1487500" y="2694468"/>
            <a:ext cx="48291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6" name="Google Shape;106;p15"/>
          <p:cNvSpPr txBox="1"/>
          <p:nvPr>
            <p:ph hasCustomPrompt="1" idx="4" type="title"/>
          </p:nvPr>
        </p:nvSpPr>
        <p:spPr>
          <a:xfrm>
            <a:off x="1487500" y="3527815"/>
            <a:ext cx="48291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7" name="Google Shape;107;p15"/>
          <p:cNvSpPr txBox="1"/>
          <p:nvPr>
            <p:ph idx="5" type="subTitle"/>
          </p:nvPr>
        </p:nvSpPr>
        <p:spPr>
          <a:xfrm>
            <a:off x="1487500" y="4083900"/>
            <a:ext cx="48291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5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750" y="-2400"/>
            <a:ext cx="9142550" cy="5148300"/>
            <a:chOff x="-3503650" y="-1504975"/>
            <a:chExt cx="9142550" cy="5148300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1219500" y="2757325"/>
            <a:ext cx="25920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1219505" y="1478300"/>
            <a:ext cx="2388300" cy="10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6"/>
          <p:cNvSpPr/>
          <p:nvPr/>
        </p:nvSpPr>
        <p:spPr>
          <a:xfrm flipH="1">
            <a:off x="-26" y="4795825"/>
            <a:ext cx="9144000" cy="3501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2">
    <p:bg>
      <p:bgPr>
        <a:noFill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7"/>
          <p:cNvGrpSpPr/>
          <p:nvPr/>
        </p:nvGrpSpPr>
        <p:grpSpPr>
          <a:xfrm flipH="1">
            <a:off x="0" y="-2400"/>
            <a:ext cx="9142550" cy="5148300"/>
            <a:chOff x="-3503650" y="-1504975"/>
            <a:chExt cx="9142550" cy="5148300"/>
          </a:xfrm>
        </p:grpSpPr>
        <p:pic>
          <p:nvPicPr>
            <p:cNvPr id="118" name="Google Shape;118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7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7"/>
          <p:cNvSpPr txBox="1"/>
          <p:nvPr>
            <p:ph idx="1" type="subTitle"/>
          </p:nvPr>
        </p:nvSpPr>
        <p:spPr>
          <a:xfrm flipH="1">
            <a:off x="5383325" y="2757325"/>
            <a:ext cx="25413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 flipH="1">
            <a:off x="5536324" y="1478288"/>
            <a:ext cx="2388300" cy="10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17"/>
          <p:cNvSpPr/>
          <p:nvPr/>
        </p:nvSpPr>
        <p:spPr>
          <a:xfrm flipH="1">
            <a:off x="-26" y="4795825"/>
            <a:ext cx="9144000" cy="3501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1">
    <p:bg>
      <p:bgPr>
        <a:noFill/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25" y="0"/>
            <a:ext cx="9142550" cy="51435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18"/>
          <p:cNvSpPr/>
          <p:nvPr/>
        </p:nvSpPr>
        <p:spPr>
          <a:xfrm flipH="1">
            <a:off x="4350" y="7200"/>
            <a:ext cx="9135300" cy="5129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 flipH="1">
            <a:off x="5926425" y="2935475"/>
            <a:ext cx="24819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 flipH="1">
            <a:off x="4935525" y="822500"/>
            <a:ext cx="3472800" cy="21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">
    <p:bg>
      <p:bgPr>
        <a:noFill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18732"/>
          <a:stretch/>
        </p:blipFill>
        <p:spPr>
          <a:xfrm>
            <a:off x="1550" y="963600"/>
            <a:ext cx="9142550" cy="4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/>
          <p:nvPr/>
        </p:nvSpPr>
        <p:spPr>
          <a:xfrm flipH="1" rot="10800000">
            <a:off x="5175" y="1309800"/>
            <a:ext cx="9135300" cy="38337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74536"/>
          <a:stretch/>
        </p:blipFill>
        <p:spPr>
          <a:xfrm rot="10800000">
            <a:off x="-2075" y="0"/>
            <a:ext cx="9142550" cy="13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 flipH="1" rot="10800000">
            <a:off x="8450" y="-100"/>
            <a:ext cx="9121500" cy="13098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713225" y="2583925"/>
            <a:ext cx="5536800" cy="119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b="1" sz="11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5" name="Google Shape;135;p19"/>
          <p:cNvSpPr txBox="1"/>
          <p:nvPr>
            <p:ph idx="1" type="subTitle"/>
          </p:nvPr>
        </p:nvSpPr>
        <p:spPr>
          <a:xfrm>
            <a:off x="713225" y="3779725"/>
            <a:ext cx="52416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bg>
      <p:bgPr>
        <a:noFill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50" y="125"/>
            <a:ext cx="9142550" cy="514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 flipH="1" rot="10800000">
            <a:off x="2625" y="-3175"/>
            <a:ext cx="9140400" cy="51435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" type="subTitle"/>
          </p:nvPr>
        </p:nvSpPr>
        <p:spPr>
          <a:xfrm>
            <a:off x="2317350" y="2412389"/>
            <a:ext cx="2282100" cy="11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2" type="subTitle"/>
          </p:nvPr>
        </p:nvSpPr>
        <p:spPr>
          <a:xfrm>
            <a:off x="848973" y="2412254"/>
            <a:ext cx="1242900" cy="7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4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1122200" y="539500"/>
            <a:ext cx="68994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3" type="subTitle"/>
          </p:nvPr>
        </p:nvSpPr>
        <p:spPr>
          <a:xfrm>
            <a:off x="6328950" y="2412250"/>
            <a:ext cx="2282100" cy="11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0"/>
          <p:cNvSpPr txBox="1"/>
          <p:nvPr>
            <p:ph idx="4" type="subTitle"/>
          </p:nvPr>
        </p:nvSpPr>
        <p:spPr>
          <a:xfrm>
            <a:off x="6328950" y="2073100"/>
            <a:ext cx="2282100" cy="3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" name="Google Shape;145;p20"/>
          <p:cNvSpPr/>
          <p:nvPr/>
        </p:nvSpPr>
        <p:spPr>
          <a:xfrm flipH="1">
            <a:off x="-26" y="4795825"/>
            <a:ext cx="9144000" cy="3501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2317350" y="2073100"/>
            <a:ext cx="2282100" cy="3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6" type="subTitle"/>
          </p:nvPr>
        </p:nvSpPr>
        <p:spPr>
          <a:xfrm>
            <a:off x="4863010" y="2412254"/>
            <a:ext cx="1242900" cy="7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4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bg>
      <p:bgPr>
        <a:noFill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 flipH="1" rot="10800000">
            <a:off x="5850" y="7731"/>
            <a:ext cx="9132300" cy="5123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>
            <p:ph idx="1" type="subTitle"/>
          </p:nvPr>
        </p:nvSpPr>
        <p:spPr>
          <a:xfrm>
            <a:off x="4154500" y="1853775"/>
            <a:ext cx="39339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Lexend Deca"/>
              <a:buAutoNum type="arabicPeriod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type="title"/>
          </p:nvPr>
        </p:nvSpPr>
        <p:spPr>
          <a:xfrm>
            <a:off x="4154500" y="539500"/>
            <a:ext cx="4067100" cy="11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pic>
        <p:nvPicPr>
          <p:cNvPr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71980" t="0"/>
          <a:stretch/>
        </p:blipFill>
        <p:spPr>
          <a:xfrm>
            <a:off x="0" y="0"/>
            <a:ext cx="2562000" cy="51443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/>
          <p:nvPr/>
        </p:nvSpPr>
        <p:spPr>
          <a:xfrm flipH="1" rot="10800000">
            <a:off x="1800" y="3900"/>
            <a:ext cx="2562000" cy="5135700"/>
          </a:xfrm>
          <a:prstGeom prst="rect">
            <a:avLst/>
          </a:prstGeom>
          <a:gradFill>
            <a:gsLst>
              <a:gs pos="0">
                <a:srgbClr val="696969">
                  <a:alpha val="3568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43529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4">
    <p:bg>
      <p:bgPr>
        <a:noFill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2"/>
          <p:cNvGrpSpPr/>
          <p:nvPr/>
        </p:nvGrpSpPr>
        <p:grpSpPr>
          <a:xfrm>
            <a:off x="750" y="-2400"/>
            <a:ext cx="9142550" cy="5148300"/>
            <a:chOff x="-3503650" y="-1504975"/>
            <a:chExt cx="9142550" cy="5148300"/>
          </a:xfrm>
        </p:grpSpPr>
        <p:pic>
          <p:nvPicPr>
            <p:cNvPr id="157" name="Google Shape;15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2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22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" type="subTitle"/>
          </p:nvPr>
        </p:nvSpPr>
        <p:spPr>
          <a:xfrm>
            <a:off x="713250" y="1914675"/>
            <a:ext cx="3787800" cy="23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61" name="Google Shape;161;p22"/>
          <p:cNvSpPr txBox="1"/>
          <p:nvPr>
            <p:ph idx="2" type="subTitle"/>
          </p:nvPr>
        </p:nvSpPr>
        <p:spPr>
          <a:xfrm>
            <a:off x="4585500" y="2424125"/>
            <a:ext cx="3845100" cy="18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">
    <p:bg>
      <p:bgPr>
        <a:noFill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3"/>
          <p:cNvGrpSpPr/>
          <p:nvPr/>
        </p:nvGrpSpPr>
        <p:grpSpPr>
          <a:xfrm>
            <a:off x="700" y="-2400"/>
            <a:ext cx="9142550" cy="5148300"/>
            <a:chOff x="-3503650" y="-1504975"/>
            <a:chExt cx="9142550" cy="5148300"/>
          </a:xfrm>
        </p:grpSpPr>
        <p:pic>
          <p:nvPicPr>
            <p:cNvPr id="165" name="Google Shape;165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3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23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1" type="subTitle"/>
          </p:nvPr>
        </p:nvSpPr>
        <p:spPr>
          <a:xfrm>
            <a:off x="1185425" y="3467445"/>
            <a:ext cx="17427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2" type="subTitle"/>
          </p:nvPr>
        </p:nvSpPr>
        <p:spPr>
          <a:xfrm>
            <a:off x="1185425" y="2900975"/>
            <a:ext cx="17427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70" name="Google Shape;170;p23"/>
          <p:cNvSpPr txBox="1"/>
          <p:nvPr>
            <p:ph idx="3" type="subTitle"/>
          </p:nvPr>
        </p:nvSpPr>
        <p:spPr>
          <a:xfrm>
            <a:off x="3700650" y="3467433"/>
            <a:ext cx="17427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4" type="subTitle"/>
          </p:nvPr>
        </p:nvSpPr>
        <p:spPr>
          <a:xfrm>
            <a:off x="3700650" y="2900963"/>
            <a:ext cx="17427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5" type="subTitle"/>
          </p:nvPr>
        </p:nvSpPr>
        <p:spPr>
          <a:xfrm>
            <a:off x="6215875" y="3467445"/>
            <a:ext cx="17427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6" type="subTitle"/>
          </p:nvPr>
        </p:nvSpPr>
        <p:spPr>
          <a:xfrm>
            <a:off x="6215875" y="2900975"/>
            <a:ext cx="17427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9">
    <p:bg>
      <p:bgPr>
        <a:noFill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/>
          <p:nvPr/>
        </p:nvSpPr>
        <p:spPr>
          <a:xfrm flipH="1" rot="10800000">
            <a:off x="5850" y="7731"/>
            <a:ext cx="9132300" cy="5123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1" type="subTitle"/>
          </p:nvPr>
        </p:nvSpPr>
        <p:spPr>
          <a:xfrm>
            <a:off x="1173349" y="3756435"/>
            <a:ext cx="15474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4"/>
          <p:cNvSpPr txBox="1"/>
          <p:nvPr>
            <p:ph idx="2" type="subTitle"/>
          </p:nvPr>
        </p:nvSpPr>
        <p:spPr>
          <a:xfrm>
            <a:off x="1173349" y="3465650"/>
            <a:ext cx="15474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3" type="subTitle"/>
          </p:nvPr>
        </p:nvSpPr>
        <p:spPr>
          <a:xfrm>
            <a:off x="3822905" y="3747735"/>
            <a:ext cx="15474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4"/>
          <p:cNvSpPr txBox="1"/>
          <p:nvPr>
            <p:ph idx="4" type="subTitle"/>
          </p:nvPr>
        </p:nvSpPr>
        <p:spPr>
          <a:xfrm>
            <a:off x="3822905" y="3465650"/>
            <a:ext cx="15474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hasCustomPrompt="1" idx="5" type="title"/>
          </p:nvPr>
        </p:nvSpPr>
        <p:spPr>
          <a:xfrm>
            <a:off x="1312099" y="2624150"/>
            <a:ext cx="1269900" cy="67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24"/>
          <p:cNvSpPr txBox="1"/>
          <p:nvPr>
            <p:ph hasCustomPrompt="1" idx="6" type="title"/>
          </p:nvPr>
        </p:nvSpPr>
        <p:spPr>
          <a:xfrm>
            <a:off x="3961635" y="2624150"/>
            <a:ext cx="1269900" cy="67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24"/>
          <p:cNvSpPr txBox="1"/>
          <p:nvPr>
            <p:ph idx="7" type="subTitle"/>
          </p:nvPr>
        </p:nvSpPr>
        <p:spPr>
          <a:xfrm>
            <a:off x="6472480" y="3747735"/>
            <a:ext cx="15474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8" type="subTitle"/>
          </p:nvPr>
        </p:nvSpPr>
        <p:spPr>
          <a:xfrm>
            <a:off x="6472480" y="3465650"/>
            <a:ext cx="15474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hasCustomPrompt="1" idx="9" type="title"/>
          </p:nvPr>
        </p:nvSpPr>
        <p:spPr>
          <a:xfrm>
            <a:off x="6611210" y="2624150"/>
            <a:ext cx="1269900" cy="67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bg>
      <p:bgPr>
        <a:noFill/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/>
          <p:nvPr/>
        </p:nvSpPr>
        <p:spPr>
          <a:xfrm flipH="1" rot="10800000">
            <a:off x="5850" y="7731"/>
            <a:ext cx="9132300" cy="5123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2" name="Google Shape;192;p25"/>
          <p:cNvSpPr txBox="1"/>
          <p:nvPr>
            <p:ph idx="1" type="subTitle"/>
          </p:nvPr>
        </p:nvSpPr>
        <p:spPr>
          <a:xfrm>
            <a:off x="2643528" y="2254884"/>
            <a:ext cx="13983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3" name="Google Shape;193;p25"/>
          <p:cNvSpPr txBox="1"/>
          <p:nvPr>
            <p:ph idx="2" type="subTitle"/>
          </p:nvPr>
        </p:nvSpPr>
        <p:spPr>
          <a:xfrm>
            <a:off x="2643541" y="1915750"/>
            <a:ext cx="1398300" cy="3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4" name="Google Shape;194;p25"/>
          <p:cNvSpPr txBox="1"/>
          <p:nvPr>
            <p:ph idx="3" type="subTitle"/>
          </p:nvPr>
        </p:nvSpPr>
        <p:spPr>
          <a:xfrm>
            <a:off x="6166254" y="3667175"/>
            <a:ext cx="13983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5" name="Google Shape;195;p25"/>
          <p:cNvSpPr txBox="1"/>
          <p:nvPr>
            <p:ph idx="4" type="subTitle"/>
          </p:nvPr>
        </p:nvSpPr>
        <p:spPr>
          <a:xfrm>
            <a:off x="6166256" y="3328050"/>
            <a:ext cx="1398300" cy="3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6" name="Google Shape;196;p25"/>
          <p:cNvSpPr txBox="1"/>
          <p:nvPr>
            <p:ph idx="5" type="subTitle"/>
          </p:nvPr>
        </p:nvSpPr>
        <p:spPr>
          <a:xfrm>
            <a:off x="6166429" y="2254875"/>
            <a:ext cx="13983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7" name="Google Shape;197;p25"/>
          <p:cNvSpPr txBox="1"/>
          <p:nvPr>
            <p:ph idx="6" type="subTitle"/>
          </p:nvPr>
        </p:nvSpPr>
        <p:spPr>
          <a:xfrm>
            <a:off x="6166430" y="1915750"/>
            <a:ext cx="1398300" cy="3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8" name="Google Shape;198;p25"/>
          <p:cNvSpPr txBox="1"/>
          <p:nvPr>
            <p:ph idx="7" type="subTitle"/>
          </p:nvPr>
        </p:nvSpPr>
        <p:spPr>
          <a:xfrm>
            <a:off x="2643548" y="3672128"/>
            <a:ext cx="13983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25"/>
          <p:cNvSpPr txBox="1"/>
          <p:nvPr>
            <p:ph idx="8" type="subTitle"/>
          </p:nvPr>
        </p:nvSpPr>
        <p:spPr>
          <a:xfrm>
            <a:off x="2643543" y="3333005"/>
            <a:ext cx="1398300" cy="3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7">
    <p:bg>
      <p:bgPr>
        <a:noFill/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 rotWithShape="1">
          <a:blip r:embed="rId2">
            <a:alphaModFix/>
          </a:blip>
          <a:srcRect b="49553" l="0" r="0" t="0"/>
          <a:stretch/>
        </p:blipFill>
        <p:spPr>
          <a:xfrm>
            <a:off x="725" y="2300"/>
            <a:ext cx="9142550" cy="25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3">
            <a:alphaModFix/>
          </a:blip>
          <a:srcRect b="50678" l="0" r="0" t="0"/>
          <a:stretch/>
        </p:blipFill>
        <p:spPr>
          <a:xfrm flipH="1" rot="10800000">
            <a:off x="1400" y="2606676"/>
            <a:ext cx="9142600" cy="253682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26"/>
          <p:cNvSpPr/>
          <p:nvPr/>
        </p:nvSpPr>
        <p:spPr>
          <a:xfrm flipH="1" rot="10800000">
            <a:off x="11250" y="2611477"/>
            <a:ext cx="9121500" cy="25545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>
            <p:ph type="title"/>
          </p:nvPr>
        </p:nvSpPr>
        <p:spPr>
          <a:xfrm>
            <a:off x="1175625" y="1342125"/>
            <a:ext cx="2997900" cy="4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idx="1" type="subTitle"/>
          </p:nvPr>
        </p:nvSpPr>
        <p:spPr>
          <a:xfrm>
            <a:off x="1175625" y="3214700"/>
            <a:ext cx="2997900" cy="11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6"/>
          <p:cNvSpPr txBox="1"/>
          <p:nvPr>
            <p:ph idx="2" type="subTitle"/>
          </p:nvPr>
        </p:nvSpPr>
        <p:spPr>
          <a:xfrm>
            <a:off x="4656050" y="3550800"/>
            <a:ext cx="2997900" cy="4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34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08" name="Google Shape;208;p26"/>
          <p:cNvSpPr txBox="1"/>
          <p:nvPr>
            <p:ph idx="3" type="subTitle"/>
          </p:nvPr>
        </p:nvSpPr>
        <p:spPr>
          <a:xfrm>
            <a:off x="4656050" y="1005975"/>
            <a:ext cx="2997900" cy="11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AND_TWO_COLUMNS_1_1_1_1">
    <p:bg>
      <p:bgPr>
        <a:noFill/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27"/>
          <p:cNvGrpSpPr/>
          <p:nvPr/>
        </p:nvGrpSpPr>
        <p:grpSpPr>
          <a:xfrm>
            <a:off x="700" y="-2400"/>
            <a:ext cx="9142550" cy="5148300"/>
            <a:chOff x="-3503650" y="-1504975"/>
            <a:chExt cx="9142550" cy="5148300"/>
          </a:xfrm>
        </p:grpSpPr>
        <p:pic>
          <p:nvPicPr>
            <p:cNvPr id="211" name="Google Shape;211;p2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503650" y="-1504825"/>
              <a:ext cx="9142550" cy="514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7"/>
            <p:cNvSpPr/>
            <p:nvPr/>
          </p:nvSpPr>
          <p:spPr>
            <a:xfrm flipH="1" rot="10800000">
              <a:off x="-3500025" y="-1504975"/>
              <a:ext cx="9135300" cy="5148300"/>
            </a:xfrm>
            <a:prstGeom prst="rect">
              <a:avLst/>
            </a:prstGeom>
            <a:gradFill>
              <a:gsLst>
                <a:gs pos="0">
                  <a:srgbClr val="FFFFFF">
                    <a:alpha val="58431"/>
                    <a:alpha val="44050"/>
                  </a:srgbClr>
                </a:gs>
                <a:gs pos="50000">
                  <a:srgbClr val="CCCCCC">
                    <a:alpha val="48627"/>
                    <a:alpha val="44050"/>
                  </a:srgbClr>
                </a:gs>
                <a:gs pos="100000">
                  <a:srgbClr val="FFFFFF">
                    <a:alpha val="58431"/>
                    <a:alpha val="4405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0" l="0" r="0" t="93194"/>
          <a:stretch/>
        </p:blipFill>
        <p:spPr>
          <a:xfrm>
            <a:off x="700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27"/>
          <p:cNvSpPr txBox="1"/>
          <p:nvPr>
            <p:ph type="title"/>
          </p:nvPr>
        </p:nvSpPr>
        <p:spPr>
          <a:xfrm>
            <a:off x="713225" y="539494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" type="subTitle"/>
          </p:nvPr>
        </p:nvSpPr>
        <p:spPr>
          <a:xfrm>
            <a:off x="1582325" y="1968925"/>
            <a:ext cx="16344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7"/>
          <p:cNvSpPr txBox="1"/>
          <p:nvPr>
            <p:ph idx="2" type="subTitle"/>
          </p:nvPr>
        </p:nvSpPr>
        <p:spPr>
          <a:xfrm>
            <a:off x="1582325" y="1715100"/>
            <a:ext cx="16344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" name="Google Shape;217;p27"/>
          <p:cNvSpPr txBox="1"/>
          <p:nvPr>
            <p:ph idx="3" type="subTitle"/>
          </p:nvPr>
        </p:nvSpPr>
        <p:spPr>
          <a:xfrm>
            <a:off x="4189325" y="1968925"/>
            <a:ext cx="16344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4" type="subTitle"/>
          </p:nvPr>
        </p:nvSpPr>
        <p:spPr>
          <a:xfrm>
            <a:off x="4205575" y="1715100"/>
            <a:ext cx="16344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9" name="Google Shape;219;p27"/>
          <p:cNvSpPr txBox="1"/>
          <p:nvPr>
            <p:ph idx="5" type="subTitle"/>
          </p:nvPr>
        </p:nvSpPr>
        <p:spPr>
          <a:xfrm>
            <a:off x="6796325" y="1968925"/>
            <a:ext cx="16344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6" type="subTitle"/>
          </p:nvPr>
        </p:nvSpPr>
        <p:spPr>
          <a:xfrm>
            <a:off x="6796325" y="1715100"/>
            <a:ext cx="16344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27"/>
          <p:cNvSpPr txBox="1"/>
          <p:nvPr>
            <p:ph idx="7" type="subTitle"/>
          </p:nvPr>
        </p:nvSpPr>
        <p:spPr>
          <a:xfrm>
            <a:off x="1582325" y="3483713"/>
            <a:ext cx="16344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8" type="subTitle"/>
          </p:nvPr>
        </p:nvSpPr>
        <p:spPr>
          <a:xfrm>
            <a:off x="1582325" y="3232888"/>
            <a:ext cx="16344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27"/>
          <p:cNvSpPr txBox="1"/>
          <p:nvPr>
            <p:ph idx="9" type="subTitle"/>
          </p:nvPr>
        </p:nvSpPr>
        <p:spPr>
          <a:xfrm>
            <a:off x="4189325" y="3483713"/>
            <a:ext cx="16344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13" type="subTitle"/>
          </p:nvPr>
        </p:nvSpPr>
        <p:spPr>
          <a:xfrm>
            <a:off x="4205575" y="3232888"/>
            <a:ext cx="16344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5" name="Google Shape;225;p27"/>
          <p:cNvSpPr txBox="1"/>
          <p:nvPr>
            <p:ph idx="14" type="subTitle"/>
          </p:nvPr>
        </p:nvSpPr>
        <p:spPr>
          <a:xfrm>
            <a:off x="6796325" y="3483713"/>
            <a:ext cx="16344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5" type="subTitle"/>
          </p:nvPr>
        </p:nvSpPr>
        <p:spPr>
          <a:xfrm>
            <a:off x="6796325" y="3232888"/>
            <a:ext cx="16344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1">
    <p:bg>
      <p:bgPr>
        <a:noFill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/>
        </p:nvSpPr>
        <p:spPr>
          <a:xfrm flipH="1" rot="10800000">
            <a:off x="5850" y="7731"/>
            <a:ext cx="9132300" cy="5123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1192225" y="539500"/>
            <a:ext cx="72384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31" name="Google Shape;231;p28"/>
          <p:cNvSpPr txBox="1"/>
          <p:nvPr>
            <p:ph idx="1" type="subTitle"/>
          </p:nvPr>
        </p:nvSpPr>
        <p:spPr>
          <a:xfrm>
            <a:off x="1192225" y="3381729"/>
            <a:ext cx="16845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8"/>
          <p:cNvSpPr txBox="1"/>
          <p:nvPr>
            <p:ph idx="2" type="subTitle"/>
          </p:nvPr>
        </p:nvSpPr>
        <p:spPr>
          <a:xfrm>
            <a:off x="1192225" y="2815263"/>
            <a:ext cx="16845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33" name="Google Shape;233;p28"/>
          <p:cNvSpPr txBox="1"/>
          <p:nvPr>
            <p:ph idx="3" type="subTitle"/>
          </p:nvPr>
        </p:nvSpPr>
        <p:spPr>
          <a:xfrm>
            <a:off x="3043588" y="3381716"/>
            <a:ext cx="16845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8"/>
          <p:cNvSpPr txBox="1"/>
          <p:nvPr>
            <p:ph idx="4" type="subTitle"/>
          </p:nvPr>
        </p:nvSpPr>
        <p:spPr>
          <a:xfrm>
            <a:off x="3043588" y="2815250"/>
            <a:ext cx="16845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5" type="subTitle"/>
          </p:nvPr>
        </p:nvSpPr>
        <p:spPr>
          <a:xfrm>
            <a:off x="4894951" y="3381729"/>
            <a:ext cx="16845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8"/>
          <p:cNvSpPr txBox="1"/>
          <p:nvPr>
            <p:ph idx="6" type="subTitle"/>
          </p:nvPr>
        </p:nvSpPr>
        <p:spPr>
          <a:xfrm>
            <a:off x="4894951" y="2815263"/>
            <a:ext cx="16845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37" name="Google Shape;237;p28"/>
          <p:cNvSpPr txBox="1"/>
          <p:nvPr>
            <p:ph idx="7" type="subTitle"/>
          </p:nvPr>
        </p:nvSpPr>
        <p:spPr>
          <a:xfrm>
            <a:off x="6746313" y="3381729"/>
            <a:ext cx="16845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8"/>
          <p:cNvSpPr txBox="1"/>
          <p:nvPr>
            <p:ph idx="8" type="subTitle"/>
          </p:nvPr>
        </p:nvSpPr>
        <p:spPr>
          <a:xfrm>
            <a:off x="6746313" y="2815263"/>
            <a:ext cx="16845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pic>
        <p:nvPicPr>
          <p:cNvPr id="239" name="Google Shape;239;p28"/>
          <p:cNvPicPr preferRelativeResize="0"/>
          <p:nvPr/>
        </p:nvPicPr>
        <p:blipFill rotWithShape="1">
          <a:blip r:embed="rId3">
            <a:alphaModFix/>
          </a:blip>
          <a:srcRect b="3838" l="0" r="0" t="89356"/>
          <a:stretch/>
        </p:blipFill>
        <p:spPr>
          <a:xfrm>
            <a:off x="-25" y="4793425"/>
            <a:ext cx="9144000" cy="35007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AND_TWO_COLUMNS_1_1_1_1_1">
    <p:bg>
      <p:bgPr>
        <a:noFill/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/>
          <p:nvPr/>
        </p:nvSpPr>
        <p:spPr>
          <a:xfrm flipH="1" rot="10800000">
            <a:off x="5850" y="10200"/>
            <a:ext cx="9132300" cy="5123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9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4" name="Google Shape;244;p29"/>
          <p:cNvSpPr txBox="1"/>
          <p:nvPr>
            <p:ph idx="1" type="subTitle"/>
          </p:nvPr>
        </p:nvSpPr>
        <p:spPr>
          <a:xfrm>
            <a:off x="713223" y="1733563"/>
            <a:ext cx="15711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9"/>
          <p:cNvSpPr txBox="1"/>
          <p:nvPr>
            <p:ph idx="2" type="subTitle"/>
          </p:nvPr>
        </p:nvSpPr>
        <p:spPr>
          <a:xfrm>
            <a:off x="713223" y="1514900"/>
            <a:ext cx="1571100" cy="3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46" name="Google Shape;246;p29"/>
          <p:cNvSpPr txBox="1"/>
          <p:nvPr>
            <p:ph idx="3" type="subTitle"/>
          </p:nvPr>
        </p:nvSpPr>
        <p:spPr>
          <a:xfrm>
            <a:off x="5632748" y="1733586"/>
            <a:ext cx="15711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9"/>
          <p:cNvSpPr txBox="1"/>
          <p:nvPr>
            <p:ph idx="4" type="subTitle"/>
          </p:nvPr>
        </p:nvSpPr>
        <p:spPr>
          <a:xfrm>
            <a:off x="5632748" y="1514925"/>
            <a:ext cx="1571100" cy="3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48" name="Google Shape;248;p29"/>
          <p:cNvSpPr txBox="1"/>
          <p:nvPr>
            <p:ph idx="5" type="subTitle"/>
          </p:nvPr>
        </p:nvSpPr>
        <p:spPr>
          <a:xfrm>
            <a:off x="6246202" y="2875131"/>
            <a:ext cx="15711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9"/>
          <p:cNvSpPr txBox="1"/>
          <p:nvPr>
            <p:ph idx="6" type="subTitle"/>
          </p:nvPr>
        </p:nvSpPr>
        <p:spPr>
          <a:xfrm>
            <a:off x="6246202" y="2656470"/>
            <a:ext cx="1571100" cy="3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50" name="Google Shape;250;p29"/>
          <p:cNvSpPr txBox="1"/>
          <p:nvPr>
            <p:ph idx="7" type="subTitle"/>
          </p:nvPr>
        </p:nvSpPr>
        <p:spPr>
          <a:xfrm>
            <a:off x="1951435" y="4016675"/>
            <a:ext cx="15711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8" type="subTitle"/>
          </p:nvPr>
        </p:nvSpPr>
        <p:spPr>
          <a:xfrm>
            <a:off x="1951435" y="3798013"/>
            <a:ext cx="1571100" cy="3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52" name="Google Shape;252;p29"/>
          <p:cNvSpPr txBox="1"/>
          <p:nvPr>
            <p:ph idx="9" type="subTitle"/>
          </p:nvPr>
        </p:nvSpPr>
        <p:spPr>
          <a:xfrm>
            <a:off x="1326677" y="2875119"/>
            <a:ext cx="15711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9"/>
          <p:cNvSpPr txBox="1"/>
          <p:nvPr>
            <p:ph idx="13" type="subTitle"/>
          </p:nvPr>
        </p:nvSpPr>
        <p:spPr>
          <a:xfrm>
            <a:off x="1326677" y="2656456"/>
            <a:ext cx="1571100" cy="3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  <p:sp>
        <p:nvSpPr>
          <p:cNvPr id="254" name="Google Shape;254;p29"/>
          <p:cNvSpPr txBox="1"/>
          <p:nvPr>
            <p:ph idx="14" type="subTitle"/>
          </p:nvPr>
        </p:nvSpPr>
        <p:spPr>
          <a:xfrm>
            <a:off x="6871035" y="4016675"/>
            <a:ext cx="1571100" cy="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9"/>
          <p:cNvSpPr txBox="1"/>
          <p:nvPr>
            <p:ph idx="15" type="subTitle"/>
          </p:nvPr>
        </p:nvSpPr>
        <p:spPr>
          <a:xfrm>
            <a:off x="6871035" y="3798014"/>
            <a:ext cx="1571100" cy="3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b="1" sz="2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roissant One"/>
              <a:buNone/>
              <a:defRPr sz="2000"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">
    <p:bg>
      <p:bgPr>
        <a:noFill/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4" y="0"/>
            <a:ext cx="91425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/>
          <p:nvPr/>
        </p:nvSpPr>
        <p:spPr>
          <a:xfrm>
            <a:off x="5175" y="0"/>
            <a:ext cx="9121500" cy="5135700"/>
          </a:xfrm>
          <a:prstGeom prst="rect">
            <a:avLst/>
          </a:prstGeom>
          <a:gradFill>
            <a:gsLst>
              <a:gs pos="0">
                <a:srgbClr val="696969">
                  <a:alpha val="1019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17254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0"/>
          <p:cNvPicPr preferRelativeResize="0"/>
          <p:nvPr/>
        </p:nvPicPr>
        <p:blipFill rotWithShape="1">
          <a:blip r:embed="rId3">
            <a:alphaModFix/>
          </a:blip>
          <a:srcRect b="72761" l="0" r="0" t="0"/>
          <a:stretch/>
        </p:blipFill>
        <p:spPr>
          <a:xfrm flipH="1" rot="10800000">
            <a:off x="725" y="3740150"/>
            <a:ext cx="9142550" cy="140105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p30"/>
          <p:cNvSpPr txBox="1"/>
          <p:nvPr>
            <p:ph type="title"/>
          </p:nvPr>
        </p:nvSpPr>
        <p:spPr>
          <a:xfrm>
            <a:off x="2429250" y="682375"/>
            <a:ext cx="42855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6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2541613" y="1711600"/>
            <a:ext cx="40608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2" name="Google Shape;262;p30"/>
          <p:cNvSpPr txBox="1"/>
          <p:nvPr/>
        </p:nvSpPr>
        <p:spPr>
          <a:xfrm>
            <a:off x="2408250" y="3789588"/>
            <a:ext cx="4327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ONLY_1">
    <p:bg>
      <p:bgPr>
        <a:noFill/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/>
          <p:nvPr/>
        </p:nvSpPr>
        <p:spPr>
          <a:xfrm flipH="1" rot="10800000">
            <a:off x="5850" y="7731"/>
            <a:ext cx="9132300" cy="5123100"/>
          </a:xfrm>
          <a:prstGeom prst="rect">
            <a:avLst/>
          </a:prstGeom>
          <a:gradFill>
            <a:gsLst>
              <a:gs pos="0">
                <a:srgbClr val="FFFFFF">
                  <a:alpha val="58431"/>
                  <a:alpha val="44050"/>
                </a:srgbClr>
              </a:gs>
              <a:gs pos="50000">
                <a:srgbClr val="CCCCCC">
                  <a:alpha val="48627"/>
                  <a:alpha val="44050"/>
                </a:srgbClr>
              </a:gs>
              <a:gs pos="100000">
                <a:srgbClr val="FFFFFF">
                  <a:alpha val="58431"/>
                  <a:alpha val="4405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31"/>
          <p:cNvGrpSpPr/>
          <p:nvPr/>
        </p:nvGrpSpPr>
        <p:grpSpPr>
          <a:xfrm rot="2700000">
            <a:off x="316501" y="375178"/>
            <a:ext cx="328648" cy="328648"/>
            <a:chOff x="3006065" y="-1115369"/>
            <a:chExt cx="757955" cy="757955"/>
          </a:xfrm>
        </p:grpSpPr>
        <p:grpSp>
          <p:nvGrpSpPr>
            <p:cNvPr id="267" name="Google Shape;267;p31"/>
            <p:cNvGrpSpPr/>
            <p:nvPr/>
          </p:nvGrpSpPr>
          <p:grpSpPr>
            <a:xfrm rot="-5400000">
              <a:off x="3006065" y="-797866"/>
              <a:ext cx="440452" cy="440452"/>
              <a:chOff x="1853525" y="303875"/>
              <a:chExt cx="634200" cy="634200"/>
            </a:xfrm>
          </p:grpSpPr>
          <p:sp>
            <p:nvSpPr>
              <p:cNvPr id="268" name="Google Shape;268;p31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69" name="Google Shape;269;p31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70" name="Google Shape;270;p31"/>
            <p:cNvGrpSpPr/>
            <p:nvPr/>
          </p:nvGrpSpPr>
          <p:grpSpPr>
            <a:xfrm rot="-5400000">
              <a:off x="3164816" y="-956617"/>
              <a:ext cx="440452" cy="440452"/>
              <a:chOff x="1853525" y="303875"/>
              <a:chExt cx="634200" cy="634200"/>
            </a:xfrm>
          </p:grpSpPr>
          <p:sp>
            <p:nvSpPr>
              <p:cNvPr id="271" name="Google Shape;271;p31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73" name="Google Shape;273;p31"/>
            <p:cNvGrpSpPr/>
            <p:nvPr/>
          </p:nvGrpSpPr>
          <p:grpSpPr>
            <a:xfrm rot="-5400000">
              <a:off x="3323568" y="-1115369"/>
              <a:ext cx="440452" cy="440452"/>
              <a:chOff x="1853525" y="303875"/>
              <a:chExt cx="634200" cy="634200"/>
            </a:xfrm>
          </p:grpSpPr>
          <p:sp>
            <p:nvSpPr>
              <p:cNvPr id="274" name="Google Shape;274;p31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">
    <p:bg>
      <p:bgPr>
        <a:noFill/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/>
          <p:nvPr/>
        </p:nvSpPr>
        <p:spPr>
          <a:xfrm flipH="1" rot="10800000">
            <a:off x="5850" y="10206"/>
            <a:ext cx="9132300" cy="5123100"/>
          </a:xfrm>
          <a:prstGeom prst="rect">
            <a:avLst/>
          </a:prstGeom>
          <a:gradFill>
            <a:gsLst>
              <a:gs pos="0">
                <a:srgbClr val="696969">
                  <a:alpha val="3568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43529"/>
                  <a:alpha val="44050"/>
                </a:srgbClr>
              </a:gs>
            </a:gsLst>
            <a:lin ang="2698631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32"/>
          <p:cNvGrpSpPr/>
          <p:nvPr/>
        </p:nvGrpSpPr>
        <p:grpSpPr>
          <a:xfrm rot="2700000">
            <a:off x="8266451" y="4444241"/>
            <a:ext cx="328648" cy="328648"/>
            <a:chOff x="3006065" y="-1115369"/>
            <a:chExt cx="757955" cy="757955"/>
          </a:xfrm>
        </p:grpSpPr>
        <p:grpSp>
          <p:nvGrpSpPr>
            <p:cNvPr id="280" name="Google Shape;280;p32"/>
            <p:cNvGrpSpPr/>
            <p:nvPr/>
          </p:nvGrpSpPr>
          <p:grpSpPr>
            <a:xfrm rot="-5400000">
              <a:off x="3006065" y="-797866"/>
              <a:ext cx="440452" cy="440452"/>
              <a:chOff x="1853525" y="303875"/>
              <a:chExt cx="634200" cy="634200"/>
            </a:xfrm>
          </p:grpSpPr>
          <p:sp>
            <p:nvSpPr>
              <p:cNvPr id="281" name="Google Shape;281;p32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83" name="Google Shape;283;p32"/>
            <p:cNvGrpSpPr/>
            <p:nvPr/>
          </p:nvGrpSpPr>
          <p:grpSpPr>
            <a:xfrm rot="-5400000">
              <a:off x="3164816" y="-956617"/>
              <a:ext cx="440452" cy="440452"/>
              <a:chOff x="1853525" y="303875"/>
              <a:chExt cx="634200" cy="634200"/>
            </a:xfrm>
          </p:grpSpPr>
          <p:sp>
            <p:nvSpPr>
              <p:cNvPr id="284" name="Google Shape;284;p32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86" name="Google Shape;286;p32"/>
            <p:cNvGrpSpPr/>
            <p:nvPr/>
          </p:nvGrpSpPr>
          <p:grpSpPr>
            <a:xfrm rot="-5400000">
              <a:off x="3323568" y="-1115369"/>
              <a:ext cx="440452" cy="440452"/>
              <a:chOff x="1853525" y="303875"/>
              <a:chExt cx="634200" cy="634200"/>
            </a:xfrm>
          </p:grpSpPr>
          <p:sp>
            <p:nvSpPr>
              <p:cNvPr id="287" name="Google Shape;287;p32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88" name="Google Shape;288;p32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Deca"/>
              <a:buNone/>
              <a:defRPr b="1" sz="34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/>
          <p:nvPr>
            <p:ph type="ctrTitle"/>
          </p:nvPr>
        </p:nvSpPr>
        <p:spPr>
          <a:xfrm>
            <a:off x="804325" y="715475"/>
            <a:ext cx="7573500" cy="32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</a:rPr>
              <a:t>FRAUDULENT &amp; </a:t>
            </a:r>
            <a:r>
              <a:rPr lang="en" sz="4500">
                <a:solidFill>
                  <a:schemeClr val="dk1"/>
                </a:solidFill>
              </a:rPr>
              <a:t>NONCOMPLIANT</a:t>
            </a:r>
            <a:r>
              <a:rPr lang="en" sz="4500">
                <a:solidFill>
                  <a:schemeClr val="dk1"/>
                </a:solidFill>
              </a:rPr>
              <a:t> AIRBNB LISTINGS ACROSS NYC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700">
                <a:solidFill>
                  <a:srgbClr val="FFFFFF"/>
                </a:solidFill>
              </a:rPr>
              <a:t>A BOROUGH-LEVEL AND FEATURE ANALYSIS</a:t>
            </a:r>
            <a:endParaRPr b="0" sz="3700">
              <a:solidFill>
                <a:srgbClr val="FFFFFF"/>
              </a:solidFill>
            </a:endParaRPr>
          </a:p>
        </p:txBody>
      </p:sp>
      <p:sp>
        <p:nvSpPr>
          <p:cNvPr id="294" name="Google Shape;294;p33"/>
          <p:cNvSpPr txBox="1"/>
          <p:nvPr>
            <p:ph idx="1" type="subTitle"/>
          </p:nvPr>
        </p:nvSpPr>
        <p:spPr>
          <a:xfrm>
            <a:off x="5014175" y="4468308"/>
            <a:ext cx="3696000" cy="2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Marina Herrera &amp; Angelina Ramola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ctrTitle"/>
          </p:nvPr>
        </p:nvSpPr>
        <p:spPr>
          <a:xfrm>
            <a:off x="713219" y="1418283"/>
            <a:ext cx="7717500" cy="284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r>
              <a:rPr lang="en" sz="1700">
                <a:solidFill>
                  <a:schemeClr val="dk1"/>
                </a:solidFill>
              </a:rPr>
              <a:t>Can New York City fraudulent Airbnb listings be distinguished through their measurable listing features?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FRAUDULENT OR NON-</a:t>
            </a:r>
            <a:r>
              <a:rPr lang="en" sz="1700"/>
              <a:t>COMPLIANT LISTINGS INCLUDE: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/>
              <a:t>Housing/code violations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/>
              <a:t>Improper multi-listing by hosts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/>
              <a:t>Illegal conversions</a:t>
            </a:r>
            <a:endParaRPr sz="1700"/>
          </a:p>
        </p:txBody>
      </p:sp>
      <p:sp>
        <p:nvSpPr>
          <p:cNvPr id="300" name="Google Shape;300;p34"/>
          <p:cNvSpPr txBox="1"/>
          <p:nvPr>
            <p:ph idx="4294967295"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PROBLEM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>
            <p:ph idx="1" type="subTitle"/>
          </p:nvPr>
        </p:nvSpPr>
        <p:spPr>
          <a:xfrm>
            <a:off x="817350" y="715900"/>
            <a:ext cx="7509300" cy="41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latin typeface="Lexend Deca"/>
                <a:ea typeface="Lexend Deca"/>
                <a:cs typeface="Lexend Deca"/>
                <a:sym typeface="Lexend Deca"/>
              </a:rPr>
              <a:t>EXECUTIVE SUMMARY:</a:t>
            </a:r>
            <a:endParaRPr b="1" sz="2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Tested for significance between NYC boroughs and fraudulent listings. Found borough has a measurable effect on fraud prevalence.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Bronx had the highest percentage of fraudulent listings (54.6%), while Staten Island had the lowest (5.8%), relative to borough size and listing volume.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Conducted Welch’s ANOVA to test if boroughs differ significantly in average prices.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Found boroughs with higher fraud percentages also had higher average prices.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Bronx again stood out, with $186 as the average price.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Applied Logistic Regression to measure the effect of listing features on fraud risk.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exend Deca"/>
              <a:buChar char="●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Regression provided quantifiable insights into which predictors are most relevant to fraud detection.</a:t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 MATTERS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11" name="Google Shape;311;p36"/>
          <p:cNvSpPr txBox="1"/>
          <p:nvPr/>
        </p:nvSpPr>
        <p:spPr>
          <a:xfrm>
            <a:off x="1177075" y="3440225"/>
            <a:ext cx="16440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PROTECT GUESTS</a:t>
            </a:r>
            <a:endParaRPr b="1" sz="20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3483775" y="3593700"/>
            <a:ext cx="21765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REGULATORY COMPLIANCE</a:t>
            </a:r>
            <a:endParaRPr b="1" sz="20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5880925" y="3486275"/>
            <a:ext cx="2528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PLATFORM REPUTATION</a:t>
            </a:r>
            <a:endParaRPr b="1" sz="20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1800775" y="1778150"/>
            <a:ext cx="396600" cy="39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1</a:t>
            </a:r>
            <a:endParaRPr b="1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4373725" y="1778150"/>
            <a:ext cx="396600" cy="39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2</a:t>
            </a:r>
            <a:endParaRPr b="1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6" name="Google Shape;316;p36"/>
          <p:cNvSpPr/>
          <p:nvPr/>
        </p:nvSpPr>
        <p:spPr>
          <a:xfrm>
            <a:off x="6946675" y="1778150"/>
            <a:ext cx="396600" cy="39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3</a:t>
            </a:r>
            <a:endParaRPr b="1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317" name="Google Shape;317;p36"/>
          <p:cNvCxnSpPr>
            <a:stCxn id="314" idx="3"/>
            <a:endCxn id="315" idx="1"/>
          </p:cNvCxnSpPr>
          <p:nvPr/>
        </p:nvCxnSpPr>
        <p:spPr>
          <a:xfrm>
            <a:off x="2197375" y="1976450"/>
            <a:ext cx="2176500" cy="600"/>
          </a:xfrm>
          <a:prstGeom prst="curvedConnector3">
            <a:avLst>
              <a:gd fmla="val 4999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8" name="Google Shape;318;p36"/>
          <p:cNvCxnSpPr>
            <a:stCxn id="315" idx="3"/>
            <a:endCxn id="316" idx="1"/>
          </p:cNvCxnSpPr>
          <p:nvPr/>
        </p:nvCxnSpPr>
        <p:spPr>
          <a:xfrm>
            <a:off x="4770325" y="1976450"/>
            <a:ext cx="2176500" cy="600"/>
          </a:xfrm>
          <a:prstGeom prst="curvedConnector3">
            <a:avLst>
              <a:gd fmla="val 4999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9" name="Google Shape;319;p36"/>
          <p:cNvCxnSpPr/>
          <p:nvPr/>
        </p:nvCxnSpPr>
        <p:spPr>
          <a:xfrm>
            <a:off x="1999075" y="2174750"/>
            <a:ext cx="0" cy="3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6"/>
          <p:cNvCxnSpPr/>
          <p:nvPr/>
        </p:nvCxnSpPr>
        <p:spPr>
          <a:xfrm>
            <a:off x="4572025" y="2174750"/>
            <a:ext cx="0" cy="3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6"/>
          <p:cNvCxnSpPr/>
          <p:nvPr/>
        </p:nvCxnSpPr>
        <p:spPr>
          <a:xfrm>
            <a:off x="7144975" y="2174750"/>
            <a:ext cx="0" cy="3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2" name="Google Shape;322;p36"/>
          <p:cNvGrpSpPr/>
          <p:nvPr/>
        </p:nvGrpSpPr>
        <p:grpSpPr>
          <a:xfrm>
            <a:off x="1564525" y="2578529"/>
            <a:ext cx="869100" cy="854721"/>
            <a:chOff x="1622225" y="2366554"/>
            <a:chExt cx="869100" cy="854721"/>
          </a:xfrm>
        </p:grpSpPr>
        <p:pic>
          <p:nvPicPr>
            <p:cNvPr id="323" name="Google Shape;323;p36"/>
            <p:cNvPicPr preferRelativeResize="0"/>
            <p:nvPr/>
          </p:nvPicPr>
          <p:blipFill rotWithShape="1">
            <a:blip r:embed="rId3">
              <a:alphaModFix/>
            </a:blip>
            <a:srcRect b="0" l="72995" r="3413" t="57352"/>
            <a:stretch/>
          </p:blipFill>
          <p:spPr>
            <a:xfrm rot="5400000">
              <a:off x="1629512" y="2359462"/>
              <a:ext cx="854526" cy="8691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4" name="Google Shape;324;p36"/>
            <p:cNvSpPr/>
            <p:nvPr/>
          </p:nvSpPr>
          <p:spPr>
            <a:xfrm rot="10800000">
              <a:off x="1926741" y="2366554"/>
              <a:ext cx="260100" cy="5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36"/>
          <p:cNvGrpSpPr/>
          <p:nvPr/>
        </p:nvGrpSpPr>
        <p:grpSpPr>
          <a:xfrm>
            <a:off x="4137425" y="2578529"/>
            <a:ext cx="869100" cy="854721"/>
            <a:chOff x="1622225" y="2366554"/>
            <a:chExt cx="869100" cy="854721"/>
          </a:xfrm>
        </p:grpSpPr>
        <p:pic>
          <p:nvPicPr>
            <p:cNvPr id="326" name="Google Shape;326;p36"/>
            <p:cNvPicPr preferRelativeResize="0"/>
            <p:nvPr/>
          </p:nvPicPr>
          <p:blipFill rotWithShape="1">
            <a:blip r:embed="rId3">
              <a:alphaModFix/>
            </a:blip>
            <a:srcRect b="0" l="72995" r="3413" t="57352"/>
            <a:stretch/>
          </p:blipFill>
          <p:spPr>
            <a:xfrm rot="5400000">
              <a:off x="1629512" y="2359462"/>
              <a:ext cx="854526" cy="8691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7" name="Google Shape;327;p36"/>
            <p:cNvSpPr/>
            <p:nvPr/>
          </p:nvSpPr>
          <p:spPr>
            <a:xfrm rot="10800000">
              <a:off x="1926741" y="2366554"/>
              <a:ext cx="260100" cy="5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" name="Google Shape;328;p36"/>
          <p:cNvGrpSpPr/>
          <p:nvPr/>
        </p:nvGrpSpPr>
        <p:grpSpPr>
          <a:xfrm>
            <a:off x="6710325" y="2578529"/>
            <a:ext cx="869100" cy="854721"/>
            <a:chOff x="1622225" y="2366554"/>
            <a:chExt cx="869100" cy="854721"/>
          </a:xfrm>
        </p:grpSpPr>
        <p:pic>
          <p:nvPicPr>
            <p:cNvPr id="329" name="Google Shape;329;p36"/>
            <p:cNvPicPr preferRelativeResize="0"/>
            <p:nvPr/>
          </p:nvPicPr>
          <p:blipFill rotWithShape="1">
            <a:blip r:embed="rId3">
              <a:alphaModFix/>
            </a:blip>
            <a:srcRect b="0" l="72995" r="3413" t="57352"/>
            <a:stretch/>
          </p:blipFill>
          <p:spPr>
            <a:xfrm rot="5400000">
              <a:off x="1629512" y="2359462"/>
              <a:ext cx="854526" cy="8691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30" name="Google Shape;330;p36"/>
            <p:cNvSpPr/>
            <p:nvPr/>
          </p:nvSpPr>
          <p:spPr>
            <a:xfrm rot="10800000">
              <a:off x="1926741" y="2366554"/>
              <a:ext cx="260100" cy="5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6"/>
          <p:cNvSpPr/>
          <p:nvPr/>
        </p:nvSpPr>
        <p:spPr>
          <a:xfrm>
            <a:off x="1794887" y="2807526"/>
            <a:ext cx="408383" cy="396516"/>
          </a:xfrm>
          <a:custGeom>
            <a:rect b="b" l="l" r="r" t="t"/>
            <a:pathLst>
              <a:path extrusionOk="0" h="16249" w="16737">
                <a:moveTo>
                  <a:pt x="5595" y="0"/>
                </a:moveTo>
                <a:cubicBezTo>
                  <a:pt x="3662" y="0"/>
                  <a:pt x="2237" y="1810"/>
                  <a:pt x="2710" y="3685"/>
                </a:cubicBezTo>
                <a:lnTo>
                  <a:pt x="3702" y="7650"/>
                </a:lnTo>
                <a:lnTo>
                  <a:pt x="1443" y="7650"/>
                </a:lnTo>
                <a:lnTo>
                  <a:pt x="1443" y="8748"/>
                </a:lnTo>
                <a:cubicBezTo>
                  <a:pt x="526" y="9560"/>
                  <a:pt x="1" y="10729"/>
                  <a:pt x="4" y="11955"/>
                </a:cubicBezTo>
                <a:cubicBezTo>
                  <a:pt x="4" y="14024"/>
                  <a:pt x="1474" y="15754"/>
                  <a:pt x="3431" y="16164"/>
                </a:cubicBezTo>
                <a:cubicBezTo>
                  <a:pt x="3434" y="16161"/>
                  <a:pt x="3434" y="16160"/>
                  <a:pt x="3435" y="16160"/>
                </a:cubicBezTo>
                <a:lnTo>
                  <a:pt x="3435" y="16160"/>
                </a:lnTo>
                <a:cubicBezTo>
                  <a:pt x="3435" y="16160"/>
                  <a:pt x="3431" y="16165"/>
                  <a:pt x="3431" y="16165"/>
                </a:cubicBezTo>
                <a:cubicBezTo>
                  <a:pt x="3431" y="16165"/>
                  <a:pt x="3481" y="16098"/>
                  <a:pt x="3963" y="15463"/>
                </a:cubicBezTo>
                <a:cubicBezTo>
                  <a:pt x="4264" y="15121"/>
                  <a:pt x="4335" y="14745"/>
                  <a:pt x="4075" y="14332"/>
                </a:cubicBezTo>
                <a:cubicBezTo>
                  <a:pt x="2855" y="14207"/>
                  <a:pt x="1928" y="13181"/>
                  <a:pt x="1924" y="11955"/>
                </a:cubicBezTo>
                <a:cubicBezTo>
                  <a:pt x="1921" y="10729"/>
                  <a:pt x="2842" y="9699"/>
                  <a:pt x="4061" y="9564"/>
                </a:cubicBezTo>
                <a:cubicBezTo>
                  <a:pt x="4149" y="9554"/>
                  <a:pt x="4236" y="9550"/>
                  <a:pt x="4322" y="9550"/>
                </a:cubicBezTo>
                <a:cubicBezTo>
                  <a:pt x="5435" y="9550"/>
                  <a:pt x="6420" y="10321"/>
                  <a:pt x="6665" y="11433"/>
                </a:cubicBezTo>
                <a:cubicBezTo>
                  <a:pt x="6926" y="12629"/>
                  <a:pt x="6245" y="13831"/>
                  <a:pt x="5084" y="14220"/>
                </a:cubicBezTo>
                <a:cubicBezTo>
                  <a:pt x="5324" y="14881"/>
                  <a:pt x="5168" y="15541"/>
                  <a:pt x="4694" y="16079"/>
                </a:cubicBezTo>
                <a:lnTo>
                  <a:pt x="4569" y="16249"/>
                </a:lnTo>
                <a:cubicBezTo>
                  <a:pt x="6835" y="16123"/>
                  <a:pt x="8640" y="14244"/>
                  <a:pt x="8640" y="11955"/>
                </a:cubicBezTo>
                <a:cubicBezTo>
                  <a:pt x="8643" y="10729"/>
                  <a:pt x="8118" y="9560"/>
                  <a:pt x="7200" y="8748"/>
                </a:cubicBezTo>
                <a:lnTo>
                  <a:pt x="7200" y="7650"/>
                </a:lnTo>
                <a:lnTo>
                  <a:pt x="4698" y="7650"/>
                </a:lnTo>
                <a:lnTo>
                  <a:pt x="3641" y="3455"/>
                </a:lnTo>
                <a:cubicBezTo>
                  <a:pt x="3448" y="2676"/>
                  <a:pt x="3736" y="1860"/>
                  <a:pt x="4369" y="1375"/>
                </a:cubicBezTo>
                <a:cubicBezTo>
                  <a:pt x="4729" y="1099"/>
                  <a:pt x="5162" y="959"/>
                  <a:pt x="5597" y="959"/>
                </a:cubicBezTo>
                <a:cubicBezTo>
                  <a:pt x="5930" y="959"/>
                  <a:pt x="6264" y="1042"/>
                  <a:pt x="6567" y="1209"/>
                </a:cubicBezTo>
                <a:lnTo>
                  <a:pt x="8667" y="2364"/>
                </a:lnTo>
                <a:lnTo>
                  <a:pt x="6906" y="4122"/>
                </a:lnTo>
                <a:lnTo>
                  <a:pt x="7685" y="4894"/>
                </a:lnTo>
                <a:cubicBezTo>
                  <a:pt x="7600" y="6506"/>
                  <a:pt x="8423" y="8026"/>
                  <a:pt x="9811" y="8842"/>
                </a:cubicBezTo>
                <a:cubicBezTo>
                  <a:pt x="10489" y="9240"/>
                  <a:pt x="11246" y="9438"/>
                  <a:pt x="12002" y="9438"/>
                </a:cubicBezTo>
                <a:cubicBezTo>
                  <a:pt x="12800" y="9438"/>
                  <a:pt x="13596" y="9218"/>
                  <a:pt x="14298" y="8778"/>
                </a:cubicBezTo>
                <a:lnTo>
                  <a:pt x="14231" y="7871"/>
                </a:lnTo>
                <a:cubicBezTo>
                  <a:pt x="14200" y="7407"/>
                  <a:pt x="13980" y="7098"/>
                  <a:pt x="13506" y="6990"/>
                </a:cubicBezTo>
                <a:cubicBezTo>
                  <a:pt x="13066" y="7345"/>
                  <a:pt x="12535" y="7520"/>
                  <a:pt x="12006" y="7520"/>
                </a:cubicBezTo>
                <a:cubicBezTo>
                  <a:pt x="11393" y="7520"/>
                  <a:pt x="10783" y="7286"/>
                  <a:pt x="10319" y="6824"/>
                </a:cubicBezTo>
                <a:cubicBezTo>
                  <a:pt x="9456" y="5961"/>
                  <a:pt x="9381" y="4589"/>
                  <a:pt x="10147" y="3637"/>
                </a:cubicBezTo>
                <a:cubicBezTo>
                  <a:pt x="10616" y="3054"/>
                  <a:pt x="11308" y="2746"/>
                  <a:pt x="12009" y="2746"/>
                </a:cubicBezTo>
                <a:cubicBezTo>
                  <a:pt x="12452" y="2746"/>
                  <a:pt x="12899" y="2868"/>
                  <a:pt x="13296" y="3123"/>
                </a:cubicBezTo>
                <a:cubicBezTo>
                  <a:pt x="14322" y="3783"/>
                  <a:pt x="14688" y="5111"/>
                  <a:pt x="14143" y="6201"/>
                </a:cubicBezTo>
                <a:cubicBezTo>
                  <a:pt x="14170" y="6215"/>
                  <a:pt x="14197" y="6228"/>
                  <a:pt x="14221" y="6242"/>
                </a:cubicBezTo>
                <a:cubicBezTo>
                  <a:pt x="15267" y="6787"/>
                  <a:pt x="15179" y="7921"/>
                  <a:pt x="15203" y="8016"/>
                </a:cubicBezTo>
                <a:cubicBezTo>
                  <a:pt x="16737" y="6316"/>
                  <a:pt x="16669" y="3709"/>
                  <a:pt x="15047" y="2090"/>
                </a:cubicBezTo>
                <a:cubicBezTo>
                  <a:pt x="14239" y="1279"/>
                  <a:pt x="13143" y="830"/>
                  <a:pt x="12006" y="830"/>
                </a:cubicBezTo>
                <a:cubicBezTo>
                  <a:pt x="11922" y="830"/>
                  <a:pt x="11839" y="832"/>
                  <a:pt x="11755" y="837"/>
                </a:cubicBezTo>
                <a:lnTo>
                  <a:pt x="10976" y="61"/>
                </a:lnTo>
                <a:lnTo>
                  <a:pt x="9371" y="1660"/>
                </a:lnTo>
                <a:lnTo>
                  <a:pt x="7062" y="386"/>
                </a:lnTo>
                <a:cubicBezTo>
                  <a:pt x="6655" y="160"/>
                  <a:pt x="6205" y="27"/>
                  <a:pt x="5737" y="4"/>
                </a:cubicBezTo>
                <a:cubicBezTo>
                  <a:pt x="5690" y="2"/>
                  <a:pt x="5642" y="0"/>
                  <a:pt x="559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36"/>
          <p:cNvGrpSpPr/>
          <p:nvPr/>
        </p:nvGrpSpPr>
        <p:grpSpPr>
          <a:xfrm>
            <a:off x="6993033" y="2807288"/>
            <a:ext cx="303692" cy="397209"/>
            <a:chOff x="7581142" y="2043955"/>
            <a:chExt cx="291423" cy="381126"/>
          </a:xfrm>
        </p:grpSpPr>
        <p:sp>
          <p:nvSpPr>
            <p:cNvPr id="333" name="Google Shape;333;p36"/>
            <p:cNvSpPr/>
            <p:nvPr/>
          </p:nvSpPr>
          <p:spPr>
            <a:xfrm>
              <a:off x="7684379" y="2043955"/>
              <a:ext cx="81461" cy="78393"/>
            </a:xfrm>
            <a:custGeom>
              <a:rect b="b" l="l" r="r" t="t"/>
              <a:pathLst>
                <a:path extrusionOk="0" h="3348" w="3479">
                  <a:moveTo>
                    <a:pt x="1806" y="1"/>
                  </a:moveTo>
                  <a:cubicBezTo>
                    <a:pt x="1128" y="1"/>
                    <a:pt x="519" y="407"/>
                    <a:pt x="258" y="1034"/>
                  </a:cubicBezTo>
                  <a:cubicBezTo>
                    <a:pt x="1" y="1660"/>
                    <a:pt x="143" y="2378"/>
                    <a:pt x="620" y="2855"/>
                  </a:cubicBezTo>
                  <a:cubicBezTo>
                    <a:pt x="943" y="3177"/>
                    <a:pt x="1371" y="3348"/>
                    <a:pt x="1807" y="3348"/>
                  </a:cubicBezTo>
                  <a:cubicBezTo>
                    <a:pt x="2022" y="3348"/>
                    <a:pt x="2239" y="3306"/>
                    <a:pt x="2446" y="3221"/>
                  </a:cubicBezTo>
                  <a:cubicBezTo>
                    <a:pt x="3069" y="2960"/>
                    <a:pt x="3479" y="2351"/>
                    <a:pt x="3479" y="1674"/>
                  </a:cubicBezTo>
                  <a:cubicBezTo>
                    <a:pt x="3479" y="749"/>
                    <a:pt x="2730" y="1"/>
                    <a:pt x="1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7670353" y="2290257"/>
              <a:ext cx="111994" cy="67412"/>
            </a:xfrm>
            <a:custGeom>
              <a:rect b="b" l="l" r="r" t="t"/>
              <a:pathLst>
                <a:path extrusionOk="0" h="2879" w="4783">
                  <a:moveTo>
                    <a:pt x="0" y="0"/>
                  </a:moveTo>
                  <a:lnTo>
                    <a:pt x="0" y="2879"/>
                  </a:lnTo>
                  <a:lnTo>
                    <a:pt x="4782" y="2879"/>
                  </a:lnTo>
                  <a:lnTo>
                    <a:pt x="4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7581142" y="2245675"/>
              <a:ext cx="291423" cy="179406"/>
            </a:xfrm>
            <a:custGeom>
              <a:rect b="b" l="l" r="r" t="t"/>
              <a:pathLst>
                <a:path extrusionOk="0" h="7662" w="12446">
                  <a:moveTo>
                    <a:pt x="9567" y="932"/>
                  </a:moveTo>
                  <a:lnTo>
                    <a:pt x="9567" y="5714"/>
                  </a:lnTo>
                  <a:lnTo>
                    <a:pt x="2879" y="5714"/>
                  </a:lnTo>
                  <a:lnTo>
                    <a:pt x="2879" y="932"/>
                  </a:lnTo>
                  <a:close/>
                  <a:moveTo>
                    <a:pt x="972" y="1"/>
                  </a:moveTo>
                  <a:lnTo>
                    <a:pt x="972" y="6689"/>
                  </a:lnTo>
                  <a:lnTo>
                    <a:pt x="1" y="6689"/>
                  </a:lnTo>
                  <a:lnTo>
                    <a:pt x="1" y="7661"/>
                  </a:lnTo>
                  <a:lnTo>
                    <a:pt x="12446" y="7661"/>
                  </a:lnTo>
                  <a:lnTo>
                    <a:pt x="12446" y="6689"/>
                  </a:lnTo>
                  <a:lnTo>
                    <a:pt x="11471" y="6689"/>
                  </a:lnTo>
                  <a:lnTo>
                    <a:pt x="11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7660449" y="2127218"/>
              <a:ext cx="132505" cy="40157"/>
            </a:xfrm>
            <a:custGeom>
              <a:rect b="b" l="l" r="r" t="t"/>
              <a:pathLst>
                <a:path extrusionOk="0" h="1715" w="5659">
                  <a:moveTo>
                    <a:pt x="982" y="0"/>
                  </a:moveTo>
                  <a:cubicBezTo>
                    <a:pt x="464" y="437"/>
                    <a:pt x="115" y="1044"/>
                    <a:pt x="0" y="1714"/>
                  </a:cubicBezTo>
                  <a:lnTo>
                    <a:pt x="5659" y="1714"/>
                  </a:lnTo>
                  <a:cubicBezTo>
                    <a:pt x="5544" y="1044"/>
                    <a:pt x="5195" y="437"/>
                    <a:pt x="4677" y="0"/>
                  </a:cubicBezTo>
                  <a:cubicBezTo>
                    <a:pt x="4165" y="505"/>
                    <a:pt x="3497" y="757"/>
                    <a:pt x="2829" y="757"/>
                  </a:cubicBezTo>
                  <a:cubicBezTo>
                    <a:pt x="2161" y="757"/>
                    <a:pt x="1493" y="505"/>
                    <a:pt x="9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7581142" y="2189151"/>
              <a:ext cx="291423" cy="33718"/>
            </a:xfrm>
            <a:custGeom>
              <a:rect b="b" l="l" r="r" t="t"/>
              <a:pathLst>
                <a:path extrusionOk="0" h="1440" w="12446">
                  <a:moveTo>
                    <a:pt x="1" y="0"/>
                  </a:moveTo>
                  <a:lnTo>
                    <a:pt x="1" y="1440"/>
                  </a:lnTo>
                  <a:lnTo>
                    <a:pt x="12446" y="1440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8" name="Google Shape;338;p36"/>
          <p:cNvSpPr/>
          <p:nvPr/>
        </p:nvSpPr>
        <p:spPr>
          <a:xfrm>
            <a:off x="4373653" y="2807441"/>
            <a:ext cx="396646" cy="396687"/>
          </a:xfrm>
          <a:custGeom>
            <a:rect b="b" l="l" r="r" t="t"/>
            <a:pathLst>
              <a:path extrusionOk="0" h="16256" w="16256">
                <a:moveTo>
                  <a:pt x="12446" y="2371"/>
                </a:moveTo>
                <a:lnTo>
                  <a:pt x="12446" y="5249"/>
                </a:lnTo>
                <a:lnTo>
                  <a:pt x="11470" y="5249"/>
                </a:lnTo>
                <a:lnTo>
                  <a:pt x="11470" y="2371"/>
                </a:lnTo>
                <a:close/>
                <a:moveTo>
                  <a:pt x="14349" y="2371"/>
                </a:moveTo>
                <a:lnTo>
                  <a:pt x="14349" y="5249"/>
                </a:lnTo>
                <a:lnTo>
                  <a:pt x="13377" y="5249"/>
                </a:lnTo>
                <a:lnTo>
                  <a:pt x="13377" y="2371"/>
                </a:lnTo>
                <a:close/>
                <a:moveTo>
                  <a:pt x="2879" y="2371"/>
                </a:moveTo>
                <a:lnTo>
                  <a:pt x="2879" y="15280"/>
                </a:lnTo>
                <a:lnTo>
                  <a:pt x="1903" y="15280"/>
                </a:lnTo>
                <a:lnTo>
                  <a:pt x="1903" y="2371"/>
                </a:lnTo>
                <a:close/>
                <a:moveTo>
                  <a:pt x="4782" y="2371"/>
                </a:moveTo>
                <a:lnTo>
                  <a:pt x="4782" y="15280"/>
                </a:lnTo>
                <a:lnTo>
                  <a:pt x="3810" y="15280"/>
                </a:lnTo>
                <a:lnTo>
                  <a:pt x="3810" y="2371"/>
                </a:lnTo>
                <a:close/>
                <a:moveTo>
                  <a:pt x="6688" y="2371"/>
                </a:moveTo>
                <a:lnTo>
                  <a:pt x="6688" y="15280"/>
                </a:lnTo>
                <a:lnTo>
                  <a:pt x="5713" y="15280"/>
                </a:lnTo>
                <a:lnTo>
                  <a:pt x="5713" y="2371"/>
                </a:lnTo>
                <a:close/>
                <a:moveTo>
                  <a:pt x="8592" y="2371"/>
                </a:moveTo>
                <a:lnTo>
                  <a:pt x="8592" y="15280"/>
                </a:lnTo>
                <a:lnTo>
                  <a:pt x="7620" y="15280"/>
                </a:lnTo>
                <a:lnTo>
                  <a:pt x="7620" y="2371"/>
                </a:lnTo>
                <a:close/>
                <a:moveTo>
                  <a:pt x="10539" y="2371"/>
                </a:moveTo>
                <a:lnTo>
                  <a:pt x="10539" y="15280"/>
                </a:lnTo>
                <a:lnTo>
                  <a:pt x="9567" y="15280"/>
                </a:lnTo>
                <a:lnTo>
                  <a:pt x="9567" y="2371"/>
                </a:lnTo>
                <a:close/>
                <a:moveTo>
                  <a:pt x="12446" y="11006"/>
                </a:moveTo>
                <a:lnTo>
                  <a:pt x="12446" y="15324"/>
                </a:lnTo>
                <a:lnTo>
                  <a:pt x="11470" y="15324"/>
                </a:lnTo>
                <a:lnTo>
                  <a:pt x="11470" y="11006"/>
                </a:lnTo>
                <a:close/>
                <a:moveTo>
                  <a:pt x="14349" y="11006"/>
                </a:moveTo>
                <a:lnTo>
                  <a:pt x="14349" y="15324"/>
                </a:lnTo>
                <a:lnTo>
                  <a:pt x="13377" y="15324"/>
                </a:lnTo>
                <a:lnTo>
                  <a:pt x="13377" y="11006"/>
                </a:lnTo>
                <a:close/>
                <a:moveTo>
                  <a:pt x="0" y="0"/>
                </a:moveTo>
                <a:lnTo>
                  <a:pt x="0" y="2371"/>
                </a:lnTo>
                <a:lnTo>
                  <a:pt x="972" y="2371"/>
                </a:lnTo>
                <a:lnTo>
                  <a:pt x="972" y="15280"/>
                </a:lnTo>
                <a:lnTo>
                  <a:pt x="0" y="15280"/>
                </a:lnTo>
                <a:lnTo>
                  <a:pt x="0" y="16256"/>
                </a:lnTo>
                <a:lnTo>
                  <a:pt x="16255" y="16256"/>
                </a:lnTo>
                <a:lnTo>
                  <a:pt x="16255" y="15280"/>
                </a:lnTo>
                <a:lnTo>
                  <a:pt x="15324" y="15280"/>
                </a:lnTo>
                <a:lnTo>
                  <a:pt x="15324" y="9100"/>
                </a:lnTo>
                <a:lnTo>
                  <a:pt x="12446" y="9100"/>
                </a:lnTo>
                <a:lnTo>
                  <a:pt x="12446" y="7197"/>
                </a:lnTo>
                <a:lnTo>
                  <a:pt x="13377" y="7197"/>
                </a:lnTo>
                <a:lnTo>
                  <a:pt x="13377" y="8128"/>
                </a:lnTo>
                <a:lnTo>
                  <a:pt x="15280" y="8128"/>
                </a:lnTo>
                <a:lnTo>
                  <a:pt x="15280" y="2371"/>
                </a:lnTo>
                <a:lnTo>
                  <a:pt x="16255" y="2371"/>
                </a:lnTo>
                <a:lnTo>
                  <a:pt x="1625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36"/>
          <p:cNvGrpSpPr/>
          <p:nvPr/>
        </p:nvGrpSpPr>
        <p:grpSpPr>
          <a:xfrm rot="2700000">
            <a:off x="3121176" y="2841466"/>
            <a:ext cx="328648" cy="328648"/>
            <a:chOff x="3006065" y="-1115369"/>
            <a:chExt cx="757955" cy="757955"/>
          </a:xfrm>
        </p:grpSpPr>
        <p:grpSp>
          <p:nvGrpSpPr>
            <p:cNvPr id="340" name="Google Shape;340;p36"/>
            <p:cNvGrpSpPr/>
            <p:nvPr/>
          </p:nvGrpSpPr>
          <p:grpSpPr>
            <a:xfrm rot="-5400000">
              <a:off x="3006065" y="-797866"/>
              <a:ext cx="440452" cy="440452"/>
              <a:chOff x="1853525" y="303875"/>
              <a:chExt cx="634200" cy="634200"/>
            </a:xfrm>
          </p:grpSpPr>
          <p:sp>
            <p:nvSpPr>
              <p:cNvPr id="341" name="Google Shape;341;p36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Google Shape;342;p36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43" name="Google Shape;343;p36"/>
            <p:cNvGrpSpPr/>
            <p:nvPr/>
          </p:nvGrpSpPr>
          <p:grpSpPr>
            <a:xfrm rot="-5400000">
              <a:off x="3164816" y="-956617"/>
              <a:ext cx="440452" cy="440452"/>
              <a:chOff x="1853525" y="303875"/>
              <a:chExt cx="634200" cy="634200"/>
            </a:xfrm>
          </p:grpSpPr>
          <p:sp>
            <p:nvSpPr>
              <p:cNvPr id="344" name="Google Shape;344;p36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Google Shape;345;p36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46" name="Google Shape;346;p36"/>
            <p:cNvGrpSpPr/>
            <p:nvPr/>
          </p:nvGrpSpPr>
          <p:grpSpPr>
            <a:xfrm rot="-5400000">
              <a:off x="3323568" y="-1115369"/>
              <a:ext cx="440452" cy="440452"/>
              <a:chOff x="1853525" y="303875"/>
              <a:chExt cx="634200" cy="634200"/>
            </a:xfrm>
          </p:grpSpPr>
          <p:sp>
            <p:nvSpPr>
              <p:cNvPr id="347" name="Google Shape;347;p36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Google Shape;348;p36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349" name="Google Shape;349;p36"/>
          <p:cNvGrpSpPr/>
          <p:nvPr/>
        </p:nvGrpSpPr>
        <p:grpSpPr>
          <a:xfrm rot="2700000">
            <a:off x="5694126" y="2841466"/>
            <a:ext cx="328648" cy="328648"/>
            <a:chOff x="3006065" y="-1115369"/>
            <a:chExt cx="757955" cy="757955"/>
          </a:xfrm>
        </p:grpSpPr>
        <p:grpSp>
          <p:nvGrpSpPr>
            <p:cNvPr id="350" name="Google Shape;350;p36"/>
            <p:cNvGrpSpPr/>
            <p:nvPr/>
          </p:nvGrpSpPr>
          <p:grpSpPr>
            <a:xfrm rot="-5400000">
              <a:off x="3006065" y="-797866"/>
              <a:ext cx="440452" cy="440452"/>
              <a:chOff x="1853525" y="303875"/>
              <a:chExt cx="634200" cy="634200"/>
            </a:xfrm>
          </p:grpSpPr>
          <p:sp>
            <p:nvSpPr>
              <p:cNvPr id="351" name="Google Shape;351;p36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36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53" name="Google Shape;353;p36"/>
            <p:cNvGrpSpPr/>
            <p:nvPr/>
          </p:nvGrpSpPr>
          <p:grpSpPr>
            <a:xfrm rot="-5400000">
              <a:off x="3164816" y="-956617"/>
              <a:ext cx="440452" cy="440452"/>
              <a:chOff x="1853525" y="303875"/>
              <a:chExt cx="634200" cy="634200"/>
            </a:xfrm>
          </p:grpSpPr>
          <p:sp>
            <p:nvSpPr>
              <p:cNvPr id="354" name="Google Shape;354;p36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36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56" name="Google Shape;356;p36"/>
            <p:cNvGrpSpPr/>
            <p:nvPr/>
          </p:nvGrpSpPr>
          <p:grpSpPr>
            <a:xfrm rot="-5400000">
              <a:off x="3323568" y="-1115369"/>
              <a:ext cx="440452" cy="440452"/>
              <a:chOff x="1853525" y="303875"/>
              <a:chExt cx="634200" cy="634200"/>
            </a:xfrm>
          </p:grpSpPr>
          <p:sp>
            <p:nvSpPr>
              <p:cNvPr id="357" name="Google Shape;357;p36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36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/>
          <p:nvPr>
            <p:ph type="title"/>
          </p:nvPr>
        </p:nvSpPr>
        <p:spPr>
          <a:xfrm>
            <a:off x="1122200" y="539500"/>
            <a:ext cx="68994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OVERVIEW</a:t>
            </a:r>
            <a:endParaRPr/>
          </a:p>
        </p:txBody>
      </p:sp>
      <p:sp>
        <p:nvSpPr>
          <p:cNvPr id="364" name="Google Shape;364;p37"/>
          <p:cNvSpPr txBox="1"/>
          <p:nvPr>
            <p:ph idx="4" type="subTitle"/>
          </p:nvPr>
        </p:nvSpPr>
        <p:spPr>
          <a:xfrm>
            <a:off x="6352825" y="2036650"/>
            <a:ext cx="2282100" cy="7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AIRBNB OPEN DATA</a:t>
            </a:r>
            <a:endParaRPr/>
          </a:p>
        </p:txBody>
      </p:sp>
      <p:grpSp>
        <p:nvGrpSpPr>
          <p:cNvPr id="365" name="Google Shape;365;p37"/>
          <p:cNvGrpSpPr/>
          <p:nvPr/>
        </p:nvGrpSpPr>
        <p:grpSpPr>
          <a:xfrm>
            <a:off x="4724860" y="2025473"/>
            <a:ext cx="1519200" cy="1547863"/>
            <a:chOff x="5753410" y="1311092"/>
            <a:chExt cx="1519200" cy="1547863"/>
          </a:xfrm>
        </p:grpSpPr>
        <p:pic>
          <p:nvPicPr>
            <p:cNvPr id="366" name="Google Shape;366;p37"/>
            <p:cNvPicPr preferRelativeResize="0"/>
            <p:nvPr/>
          </p:nvPicPr>
          <p:blipFill rotWithShape="1">
            <a:blip r:embed="rId3">
              <a:alphaModFix/>
            </a:blip>
            <a:srcRect b="0" l="72995" r="3413" t="57352"/>
            <a:stretch/>
          </p:blipFill>
          <p:spPr>
            <a:xfrm>
              <a:off x="5758237" y="1323634"/>
              <a:ext cx="1509560" cy="1535320"/>
            </a:xfrm>
            <a:prstGeom prst="rect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67" name="Google Shape;367;p37"/>
            <p:cNvSpPr/>
            <p:nvPr/>
          </p:nvSpPr>
          <p:spPr>
            <a:xfrm flipH="1" rot="10800000">
              <a:off x="5753410" y="1311092"/>
              <a:ext cx="1519200" cy="1543200"/>
            </a:xfrm>
            <a:prstGeom prst="rect">
              <a:avLst/>
            </a:prstGeom>
            <a:gradFill>
              <a:gsLst>
                <a:gs pos="0">
                  <a:srgbClr val="696969">
                    <a:alpha val="35686"/>
                    <a:alpha val="44050"/>
                  </a:srgbClr>
                </a:gs>
                <a:gs pos="50000">
                  <a:srgbClr val="4B4242">
                    <a:alpha val="38039"/>
                    <a:alpha val="44050"/>
                  </a:srgbClr>
                </a:gs>
                <a:gs pos="100000">
                  <a:srgbClr val="1D1D1D">
                    <a:alpha val="43529"/>
                    <a:alpha val="4405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8" name="Google Shape;368;p37"/>
          <p:cNvPicPr preferRelativeResize="0"/>
          <p:nvPr/>
        </p:nvPicPr>
        <p:blipFill rotWithShape="1">
          <a:blip r:embed="rId3">
            <a:alphaModFix/>
          </a:blip>
          <a:srcRect b="0" l="72995" r="3413" t="57352"/>
          <a:stretch/>
        </p:blipFill>
        <p:spPr>
          <a:xfrm>
            <a:off x="715644" y="2031744"/>
            <a:ext cx="1509560" cy="153532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9" name="Google Shape;369;p37"/>
          <p:cNvSpPr/>
          <p:nvPr/>
        </p:nvSpPr>
        <p:spPr>
          <a:xfrm flipH="1" rot="10800000">
            <a:off x="719373" y="2036654"/>
            <a:ext cx="1502100" cy="1525500"/>
          </a:xfrm>
          <a:prstGeom prst="rect">
            <a:avLst/>
          </a:prstGeom>
          <a:gradFill>
            <a:gsLst>
              <a:gs pos="0">
                <a:srgbClr val="696969">
                  <a:alpha val="35686"/>
                  <a:alpha val="44050"/>
                </a:srgbClr>
              </a:gs>
              <a:gs pos="50000">
                <a:srgbClr val="4B4242">
                  <a:alpha val="38039"/>
                  <a:alpha val="44050"/>
                </a:srgbClr>
              </a:gs>
              <a:gs pos="100000">
                <a:srgbClr val="1D1D1D">
                  <a:alpha val="43529"/>
                  <a:alpha val="440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7"/>
          <p:cNvSpPr txBox="1"/>
          <p:nvPr>
            <p:ph idx="2" type="subTitle"/>
          </p:nvPr>
        </p:nvSpPr>
        <p:spPr>
          <a:xfrm>
            <a:off x="848973" y="2412254"/>
            <a:ext cx="1242900" cy="7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10.5M</a:t>
            </a:r>
            <a:endParaRPr sz="2800"/>
          </a:p>
        </p:txBody>
      </p:sp>
      <p:sp>
        <p:nvSpPr>
          <p:cNvPr id="371" name="Google Shape;371;p37"/>
          <p:cNvSpPr txBox="1"/>
          <p:nvPr>
            <p:ph idx="5" type="subTitle"/>
          </p:nvPr>
        </p:nvSpPr>
        <p:spPr>
          <a:xfrm>
            <a:off x="2333963" y="2753425"/>
            <a:ext cx="22821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Housing Maintenance Code Violations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From NYC Open Date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7"/>
          <p:cNvSpPr txBox="1"/>
          <p:nvPr>
            <p:ph idx="6" type="subTitle"/>
          </p:nvPr>
        </p:nvSpPr>
        <p:spPr>
          <a:xfrm>
            <a:off x="4863010" y="2412254"/>
            <a:ext cx="1242900" cy="7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49K</a:t>
            </a: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idx="1" type="subTitle"/>
          </p:nvPr>
        </p:nvSpPr>
        <p:spPr>
          <a:xfrm>
            <a:off x="713225" y="1987625"/>
            <a:ext cx="4984200" cy="24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Dropped rows missing latitude/longitude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Rounded coordinates to 4 decimals (~11 meters)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Spatial matching on rounded coordinates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Binary 0/1 variable </a:t>
            </a:r>
            <a:r>
              <a:rPr lang="en" sz="1800">
                <a:solidFill>
                  <a:schemeClr val="lt1"/>
                </a:solidFill>
              </a:rPr>
              <a:t>for fraud_flag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8" name="Google Shape;378;p38"/>
          <p:cNvSpPr txBox="1"/>
          <p:nvPr>
            <p:ph type="title"/>
          </p:nvPr>
        </p:nvSpPr>
        <p:spPr>
          <a:xfrm>
            <a:off x="713225" y="539500"/>
            <a:ext cx="5254200" cy="12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PREPARATION</a:t>
            </a:r>
            <a:endParaRPr/>
          </a:p>
        </p:txBody>
      </p:sp>
      <p:grpSp>
        <p:nvGrpSpPr>
          <p:cNvPr id="379" name="Google Shape;379;p38"/>
          <p:cNvGrpSpPr/>
          <p:nvPr/>
        </p:nvGrpSpPr>
        <p:grpSpPr>
          <a:xfrm>
            <a:off x="6931513" y="1750650"/>
            <a:ext cx="1616700" cy="1647163"/>
            <a:chOff x="6931513" y="1750650"/>
            <a:chExt cx="1616700" cy="1647163"/>
          </a:xfrm>
        </p:grpSpPr>
        <p:pic>
          <p:nvPicPr>
            <p:cNvPr id="380" name="Google Shape;380;p38"/>
            <p:cNvPicPr preferRelativeResize="0"/>
            <p:nvPr/>
          </p:nvPicPr>
          <p:blipFill rotWithShape="1">
            <a:blip r:embed="rId3">
              <a:alphaModFix/>
            </a:blip>
            <a:srcRect b="0" l="72995" r="3413" t="57352"/>
            <a:stretch/>
          </p:blipFill>
          <p:spPr>
            <a:xfrm>
              <a:off x="6936650" y="1763963"/>
              <a:ext cx="1606426" cy="1633850"/>
            </a:xfrm>
            <a:prstGeom prst="rect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81" name="Google Shape;381;p38"/>
            <p:cNvSpPr/>
            <p:nvPr/>
          </p:nvSpPr>
          <p:spPr>
            <a:xfrm flipH="1" rot="10800000">
              <a:off x="6931513" y="1750650"/>
              <a:ext cx="1616700" cy="1642200"/>
            </a:xfrm>
            <a:prstGeom prst="rect">
              <a:avLst/>
            </a:prstGeom>
            <a:gradFill>
              <a:gsLst>
                <a:gs pos="0">
                  <a:srgbClr val="696969">
                    <a:alpha val="35686"/>
                    <a:alpha val="44050"/>
                  </a:srgbClr>
                </a:gs>
                <a:gs pos="50000">
                  <a:srgbClr val="4B4242">
                    <a:alpha val="38039"/>
                    <a:alpha val="44050"/>
                  </a:srgbClr>
                </a:gs>
                <a:gs pos="100000">
                  <a:srgbClr val="1D1D1D">
                    <a:alpha val="43529"/>
                    <a:alpha val="4405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8"/>
            <p:cNvSpPr/>
            <p:nvPr/>
          </p:nvSpPr>
          <p:spPr>
            <a:xfrm rot="5400000">
              <a:off x="6734000" y="2492986"/>
              <a:ext cx="510000" cy="1047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3" name="Google Shape;383;p38"/>
            <p:cNvGrpSpPr/>
            <p:nvPr/>
          </p:nvGrpSpPr>
          <p:grpSpPr>
            <a:xfrm>
              <a:off x="7197275" y="1753488"/>
              <a:ext cx="1151900" cy="1644000"/>
              <a:chOff x="973850" y="1560250"/>
              <a:chExt cx="1151900" cy="1644000"/>
            </a:xfrm>
          </p:grpSpPr>
          <p:cxnSp>
            <p:nvCxnSpPr>
              <p:cNvPr id="384" name="Google Shape;384;p38"/>
              <p:cNvCxnSpPr/>
              <p:nvPr/>
            </p:nvCxnSpPr>
            <p:spPr>
              <a:xfrm>
                <a:off x="973850" y="1560250"/>
                <a:ext cx="0" cy="164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38"/>
              <p:cNvCxnSpPr/>
              <p:nvPr/>
            </p:nvCxnSpPr>
            <p:spPr>
              <a:xfrm>
                <a:off x="1204230" y="1560250"/>
                <a:ext cx="0" cy="164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38"/>
              <p:cNvCxnSpPr/>
              <p:nvPr/>
            </p:nvCxnSpPr>
            <p:spPr>
              <a:xfrm>
                <a:off x="1434610" y="1560250"/>
                <a:ext cx="0" cy="164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38"/>
              <p:cNvCxnSpPr/>
              <p:nvPr/>
            </p:nvCxnSpPr>
            <p:spPr>
              <a:xfrm>
                <a:off x="1664990" y="1560250"/>
                <a:ext cx="0" cy="164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38"/>
              <p:cNvCxnSpPr/>
              <p:nvPr/>
            </p:nvCxnSpPr>
            <p:spPr>
              <a:xfrm>
                <a:off x="1895370" y="1560250"/>
                <a:ext cx="0" cy="164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38"/>
              <p:cNvCxnSpPr/>
              <p:nvPr/>
            </p:nvCxnSpPr>
            <p:spPr>
              <a:xfrm>
                <a:off x="2125750" y="1560250"/>
                <a:ext cx="0" cy="164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39"/>
          <p:cNvGrpSpPr/>
          <p:nvPr/>
        </p:nvGrpSpPr>
        <p:grpSpPr>
          <a:xfrm>
            <a:off x="3504981" y="1456322"/>
            <a:ext cx="1931126" cy="3152254"/>
            <a:chOff x="1576007" y="1456322"/>
            <a:chExt cx="1931126" cy="3152254"/>
          </a:xfrm>
        </p:grpSpPr>
        <p:pic>
          <p:nvPicPr>
            <p:cNvPr id="395" name="Google Shape;395;p39"/>
            <p:cNvPicPr preferRelativeResize="0"/>
            <p:nvPr/>
          </p:nvPicPr>
          <p:blipFill rotWithShape="1">
            <a:blip r:embed="rId3">
              <a:alphaModFix/>
            </a:blip>
            <a:srcRect b="0" l="0" r="71505" t="17573"/>
            <a:stretch/>
          </p:blipFill>
          <p:spPr>
            <a:xfrm>
              <a:off x="1576007" y="1465850"/>
              <a:ext cx="1931126" cy="3142726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6" name="Google Shape;396;p39"/>
            <p:cNvSpPr/>
            <p:nvPr/>
          </p:nvSpPr>
          <p:spPr>
            <a:xfrm rot="10800000">
              <a:off x="2316419" y="1456322"/>
              <a:ext cx="450300" cy="9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39"/>
          <p:cNvGrpSpPr/>
          <p:nvPr/>
        </p:nvGrpSpPr>
        <p:grpSpPr>
          <a:xfrm>
            <a:off x="6258543" y="1463122"/>
            <a:ext cx="1931126" cy="3152254"/>
            <a:chOff x="1576007" y="1456322"/>
            <a:chExt cx="1931126" cy="3152254"/>
          </a:xfrm>
        </p:grpSpPr>
        <p:pic>
          <p:nvPicPr>
            <p:cNvPr id="398" name="Google Shape;398;p39"/>
            <p:cNvPicPr preferRelativeResize="0"/>
            <p:nvPr/>
          </p:nvPicPr>
          <p:blipFill rotWithShape="1">
            <a:blip r:embed="rId3">
              <a:alphaModFix/>
            </a:blip>
            <a:srcRect b="0" l="0" r="71505" t="17573"/>
            <a:stretch/>
          </p:blipFill>
          <p:spPr>
            <a:xfrm>
              <a:off x="1576007" y="1465850"/>
              <a:ext cx="1931126" cy="3142726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9" name="Google Shape;399;p39"/>
            <p:cNvSpPr/>
            <p:nvPr/>
          </p:nvSpPr>
          <p:spPr>
            <a:xfrm rot="10800000">
              <a:off x="2316419" y="1456322"/>
              <a:ext cx="450300" cy="9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39"/>
          <p:cNvSpPr txBox="1"/>
          <p:nvPr>
            <p:ph type="title"/>
          </p:nvPr>
        </p:nvSpPr>
        <p:spPr>
          <a:xfrm>
            <a:off x="611800" y="539488"/>
            <a:ext cx="77175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STATISTICAL/PREDICTIVE METHODS</a:t>
            </a:r>
            <a:endParaRPr sz="2600"/>
          </a:p>
        </p:txBody>
      </p:sp>
      <p:grpSp>
        <p:nvGrpSpPr>
          <p:cNvPr id="401" name="Google Shape;401;p39"/>
          <p:cNvGrpSpPr/>
          <p:nvPr/>
        </p:nvGrpSpPr>
        <p:grpSpPr>
          <a:xfrm rot="2700000">
            <a:off x="8017076" y="681616"/>
            <a:ext cx="328648" cy="328648"/>
            <a:chOff x="3006065" y="-1115369"/>
            <a:chExt cx="757955" cy="757955"/>
          </a:xfrm>
        </p:grpSpPr>
        <p:grpSp>
          <p:nvGrpSpPr>
            <p:cNvPr id="402" name="Google Shape;402;p39"/>
            <p:cNvGrpSpPr/>
            <p:nvPr/>
          </p:nvGrpSpPr>
          <p:grpSpPr>
            <a:xfrm rot="-5400000">
              <a:off x="3006065" y="-797866"/>
              <a:ext cx="440452" cy="440452"/>
              <a:chOff x="1853525" y="303875"/>
              <a:chExt cx="634200" cy="634200"/>
            </a:xfrm>
          </p:grpSpPr>
          <p:sp>
            <p:nvSpPr>
              <p:cNvPr id="403" name="Google Shape;403;p39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Google Shape;404;p39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5" name="Google Shape;405;p39"/>
            <p:cNvGrpSpPr/>
            <p:nvPr/>
          </p:nvGrpSpPr>
          <p:grpSpPr>
            <a:xfrm rot="-5400000">
              <a:off x="3164816" y="-956617"/>
              <a:ext cx="440452" cy="440452"/>
              <a:chOff x="1853525" y="303875"/>
              <a:chExt cx="634200" cy="634200"/>
            </a:xfrm>
          </p:grpSpPr>
          <p:sp>
            <p:nvSpPr>
              <p:cNvPr id="406" name="Google Shape;406;p39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Google Shape;407;p39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8" name="Google Shape;408;p39"/>
            <p:cNvGrpSpPr/>
            <p:nvPr/>
          </p:nvGrpSpPr>
          <p:grpSpPr>
            <a:xfrm rot="-5400000">
              <a:off x="3323568" y="-1115369"/>
              <a:ext cx="440452" cy="440452"/>
              <a:chOff x="1853525" y="303875"/>
              <a:chExt cx="634200" cy="634200"/>
            </a:xfrm>
          </p:grpSpPr>
          <p:sp>
            <p:nvSpPr>
              <p:cNvPr id="409" name="Google Shape;409;p39"/>
              <p:cNvSpPr/>
              <p:nvPr/>
            </p:nvSpPr>
            <p:spPr>
              <a:xfrm>
                <a:off x="1853525" y="804875"/>
                <a:ext cx="634200" cy="133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Google Shape;410;p39"/>
              <p:cNvSpPr/>
              <p:nvPr/>
            </p:nvSpPr>
            <p:spPr>
              <a:xfrm rot="5400000">
                <a:off x="2104025" y="554375"/>
                <a:ext cx="634200" cy="133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11" name="Google Shape;411;p39"/>
          <p:cNvSpPr txBox="1"/>
          <p:nvPr>
            <p:ph idx="5" type="title"/>
          </p:nvPr>
        </p:nvSpPr>
        <p:spPr>
          <a:xfrm>
            <a:off x="449375" y="1603750"/>
            <a:ext cx="1878000" cy="67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412" name="Google Shape;412;p39"/>
          <p:cNvPicPr preferRelativeResize="0"/>
          <p:nvPr/>
        </p:nvPicPr>
        <p:blipFill rotWithShape="1">
          <a:blip r:embed="rId3">
            <a:alphaModFix/>
          </a:blip>
          <a:srcRect b="0" l="0" r="71505" t="17573"/>
          <a:stretch/>
        </p:blipFill>
        <p:spPr>
          <a:xfrm>
            <a:off x="867606" y="1461075"/>
            <a:ext cx="1931126" cy="3142726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3" name="Google Shape;413;p39"/>
          <p:cNvSpPr txBox="1"/>
          <p:nvPr/>
        </p:nvSpPr>
        <p:spPr>
          <a:xfrm>
            <a:off x="924825" y="1749225"/>
            <a:ext cx="1757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rPr>
              <a:t>CHI-SQUARE</a:t>
            </a:r>
            <a:endParaRPr b="1" sz="1700" u="sng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14" name="Google Shape;414;p39"/>
          <p:cNvSpPr txBox="1"/>
          <p:nvPr/>
        </p:nvSpPr>
        <p:spPr>
          <a:xfrm>
            <a:off x="3700450" y="1749225"/>
            <a:ext cx="1540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rPr>
              <a:t>WELCH’S ANOVA</a:t>
            </a:r>
            <a:endParaRPr b="1" sz="1800" u="sng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6258538" y="1749225"/>
            <a:ext cx="1757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rPr>
              <a:t>LOGISTIC REGRESSION</a:t>
            </a:r>
            <a:endParaRPr b="1" sz="1700" u="sng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924825" y="2551825"/>
            <a:ext cx="1757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TEST FOR CATEGORICAL ASSOCIATION BETWEEN BOROUGH AND FRAUD</a:t>
            </a:r>
            <a:endParaRPr b="1" sz="1600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3693150" y="2726000"/>
            <a:ext cx="1757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TEST FOR DIFFERENCE IN MEAN LISTING PRICES</a:t>
            </a:r>
            <a:endParaRPr b="1" sz="1700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6345263" y="2645875"/>
            <a:ext cx="1757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QUANTIFY PREDICTOR EFFECTS, BUILD FRAUD DETECTION MODEL</a:t>
            </a:r>
            <a:endParaRPr b="1" sz="1700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/>
          <p:nvPr>
            <p:ph type="title"/>
          </p:nvPr>
        </p:nvSpPr>
        <p:spPr>
          <a:xfrm flipH="1">
            <a:off x="3306350" y="399175"/>
            <a:ext cx="5461800" cy="12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CHI-SQUARE</a:t>
            </a:r>
            <a:endParaRPr/>
          </a:p>
        </p:txBody>
      </p:sp>
      <p:pic>
        <p:nvPicPr>
          <p:cNvPr id="424" name="Google Shape;424;p40" title="Screenshot 2025-12-04 1132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54975" cy="40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 txBox="1"/>
          <p:nvPr/>
        </p:nvSpPr>
        <p:spPr>
          <a:xfrm>
            <a:off x="62775" y="4081000"/>
            <a:ext cx="43755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H0: FRAUD </a:t>
            </a: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OCCURRENCE</a:t>
            </a: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IS INDEPENDENT OF BOROUGH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HA: FRAUD OCCURRENCE IS NOT INDEPENDENT OF BOROUGH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6" name="Google Shape;426;p40" title="Screenshot 2025-12-04 1147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267" y="1376325"/>
            <a:ext cx="4623534" cy="284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type="title"/>
          </p:nvPr>
        </p:nvSpPr>
        <p:spPr>
          <a:xfrm flipH="1">
            <a:off x="3682200" y="326700"/>
            <a:ext cx="5461800" cy="12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WELCH’S ANOVA</a:t>
            </a:r>
            <a:endParaRPr/>
          </a:p>
        </p:txBody>
      </p:sp>
      <p:sp>
        <p:nvSpPr>
          <p:cNvPr id="432" name="Google Shape;432;p41"/>
          <p:cNvSpPr txBox="1"/>
          <p:nvPr/>
        </p:nvSpPr>
        <p:spPr>
          <a:xfrm>
            <a:off x="5416500" y="1110825"/>
            <a:ext cx="35424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H0: BOROUGHS DO NOT DIFFER SIGNIFICANTLY IN AVERAGE PRICES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HA: AT LEAST ONE GROUP DIFFERS IN MEAN PRICE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3" name="Google Shape;433;p41" title="Screenshot 2025-12-04 1210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249750" cy="452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 title="Screenshot 2025-12-04 1217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750" y="2262825"/>
            <a:ext cx="3894250" cy="2810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type="title"/>
          </p:nvPr>
        </p:nvSpPr>
        <p:spPr>
          <a:xfrm flipH="1">
            <a:off x="330375" y="307100"/>
            <a:ext cx="5461800" cy="12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pic>
        <p:nvPicPr>
          <p:cNvPr id="440" name="Google Shape;440;p42" title="Screenshot 2025-12-04 1226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418" y="0"/>
            <a:ext cx="388958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2" title="Screenshot 2025-12-04 1231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02700"/>
            <a:ext cx="5254426" cy="25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3"/>
          <p:cNvSpPr txBox="1"/>
          <p:nvPr>
            <p:ph type="title"/>
          </p:nvPr>
        </p:nvSpPr>
        <p:spPr>
          <a:xfrm flipH="1">
            <a:off x="615975" y="720300"/>
            <a:ext cx="7463700" cy="4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CONCLUSIONS: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Lexend Deca"/>
              <a:buChar char="●"/>
            </a:pPr>
            <a:r>
              <a:rPr lang="en" sz="1500"/>
              <a:t>Fraud listings disproportionately concentrated in Bronx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exend Deca"/>
              <a:buChar char="●"/>
            </a:pPr>
            <a:r>
              <a:rPr lang="en" sz="1500"/>
              <a:t>Fraud listings have fewer reviews and lower prices, likely to be private rooms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exend Deca"/>
              <a:buChar char="●"/>
            </a:pPr>
            <a:r>
              <a:rPr lang="en" sz="1500"/>
              <a:t>Listings in Queens &amp; Staten Island and/or hotel and private rooms have more reviews and less likely to be fraud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Challenges: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 preparation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Trial and error with tests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Large dataset management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Violation of equal variance</a:t>
            </a:r>
            <a:endParaRPr sz="1500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"/>
          <p:cNvSpPr txBox="1"/>
          <p:nvPr>
            <p:ph type="title"/>
          </p:nvPr>
        </p:nvSpPr>
        <p:spPr>
          <a:xfrm>
            <a:off x="2429250" y="1322125"/>
            <a:ext cx="42855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52" name="Google Shape;452;p44"/>
          <p:cNvSpPr txBox="1"/>
          <p:nvPr>
            <p:ph idx="4294967295" type="subTitle"/>
          </p:nvPr>
        </p:nvSpPr>
        <p:spPr>
          <a:xfrm>
            <a:off x="2793713" y="4287425"/>
            <a:ext cx="35565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/>
              <a:t>Please keep this slide for attribution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bate on the Death Penalty for Law Students by Slidesgo">
  <a:themeElements>
    <a:clrScheme name="Simple Light">
      <a:dk1>
        <a:srgbClr val="2E2A2A"/>
      </a:dk1>
      <a:lt1>
        <a:srgbClr val="FFFFFF"/>
      </a:lt1>
      <a:dk2>
        <a:srgbClr val="2E2A2A"/>
      </a:dk2>
      <a:lt2>
        <a:srgbClr val="FFFFFF"/>
      </a:lt2>
      <a:accent1>
        <a:srgbClr val="434343"/>
      </a:accent1>
      <a:accent2>
        <a:srgbClr val="F3F3F3"/>
      </a:accent2>
      <a:accent3>
        <a:srgbClr val="E1D6D6"/>
      </a:accent3>
      <a:accent4>
        <a:srgbClr val="999999"/>
      </a:accent4>
      <a:accent5>
        <a:srgbClr val="999999"/>
      </a:accent5>
      <a:accent6>
        <a:srgbClr val="999999"/>
      </a:accent6>
      <a:hlink>
        <a:srgbClr val="2E2A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